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5" userDrawn="1">
          <p15:clr>
            <a:srgbClr val="A4A3A4"/>
          </p15:clr>
        </p15:guide>
        <p15:guide id="2" pos="38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B79B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25"/>
        <p:guide pos="381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修改要点：</a:t>
            </a:r>
            <a:r>
              <a:rPr lang="en-US" altLang="zh-CN" dirty="0"/>
              <a:t>1.</a:t>
            </a:r>
            <a:r>
              <a:rPr lang="zh-CN" altLang="en-US" dirty="0"/>
              <a:t>技术要分三页，一个技术一页，有关图片素材、成果内容都放到对应的技术中</a:t>
            </a:r>
            <a:br>
              <a:rPr lang="en-US" altLang="zh-CN" dirty="0"/>
            </a:br>
            <a:r>
              <a:rPr lang="zh-CN" altLang="en-US" dirty="0"/>
              <a:t>核心关键词：字理结构化、认知递进、多场景适配、教学数字化技术介绍：本技术为一体化汉字教学建构技术，融合多重学术理论体系。以王宁汉字构形学、</a:t>
            </a:r>
            <a:r>
              <a:rPr lang="en-US" altLang="zh-CN" dirty="0"/>
              <a:t>《</a:t>
            </a:r>
            <a:r>
              <a:rPr lang="zh-CN" altLang="en-US" dirty="0"/>
              <a:t>说文解字</a:t>
            </a:r>
            <a:r>
              <a:rPr lang="en-US" altLang="zh-CN" dirty="0"/>
              <a:t>》</a:t>
            </a:r>
            <a:r>
              <a:rPr lang="zh-CN" altLang="en-US" dirty="0"/>
              <a:t>六书学说为内容根基，结构化拆解汉字部件、字族脉络与五阶字形演变逻辑，完成专业字理的通俗化、教学化转化；结合布鲁姆六级认知理论，搭建记忆至创造的全链路递进学习闭环，实现分层教学设计与数据化内容迭代；依托情境认知理论，搭建海量多元文化场景库，针对海外多类人群定制专属学习方案。整套技术打通「字理考据</a:t>
            </a:r>
            <a:r>
              <a:rPr lang="en-US" altLang="zh-CN" dirty="0"/>
              <a:t>—</a:t>
            </a:r>
            <a:r>
              <a:rPr lang="zh-CN" altLang="en-US" dirty="0"/>
              <a:t>认知学习</a:t>
            </a:r>
            <a:r>
              <a:rPr lang="en-US" altLang="zh-CN" dirty="0"/>
              <a:t>—</a:t>
            </a:r>
            <a:r>
              <a:rPr lang="zh-CN" altLang="en-US" dirty="0"/>
              <a:t>场景落地」全流程，解决传统海外汉字教学零散割裂、死记硬背、学用脱节的核心痛点。量化指标：覆盖汉字五阶演变、六大造字逻辑；搭建</a:t>
            </a:r>
            <a:r>
              <a:rPr lang="en-US" altLang="zh-CN" dirty="0"/>
              <a:t>6</a:t>
            </a:r>
            <a:r>
              <a:rPr lang="zh-CN" altLang="en-US" dirty="0"/>
              <a:t>级标准化认知学习体系；储备千余个多品类文化教学场景，适配全品类海外中文学习者。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274108-30BB-46EF-825B-62637015799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“核心技术”改为“技术</a:t>
            </a:r>
            <a:r>
              <a:rPr lang="en-US" altLang="zh-CN" dirty="0"/>
              <a:t>2——XXXXX</a:t>
            </a:r>
            <a:r>
              <a:rPr lang="zh-CN" altLang="en-US" dirty="0"/>
              <a:t>技术”</a:t>
            </a:r>
            <a:endParaRPr lang="en-US" altLang="zh-CN" dirty="0"/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源汉字智能分类系联技术支撑字源溯源与语义关联的落地，主要解决传统汉字教学模式下知识零散的行业短板。传统汉字教学大多聚焦单字讲解，忽略汉字之间字形、字义、字源的内在关联。学习者只能孤立记忆单个汉字，无法搭建完整的知识体系，很难实现自主拓展学习。本技术依托自研汉字知识图谱与深度学习模型，搭建了一套可以自主迭代的汉字聚类关联体系。能够完成单字输入之后的部件解析、同源字匹配、可视化图谱生成等全流程智能操作，重构了体系化汉字教学的底层逻辑。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该技术具备专业的古文字溯源解析能力，系统不会局限于现代简体字的表层结构，能够回溯汉字本源字形完成结构拆解。以常用汉字“国”为例，系统自动溯源对应的繁体字形，拆分汉字核心组成部件，完整还原汉字诞生之初的构造逻辑与基础语义。在此基础上，依托成熟的相似度聚类算法，结合字形特征与语义渊源，智能筛选关联同族汉字。系统围绕部件“戈”，自动匹配对应的关联汉字，梳理不同汉字之间的传承关系与用法差异，让学习者清晰理解同族汉字的演变逻辑。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图表 30 汉字溯源知识图谱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统最终输出两类附带英文注释的可视化网络图，分别对应汉字部件拆解结构与同源汉字家族关系。将抽象的文字学理论转化为直观的可视化图形，有效降低学习者的认知门槛。技术搭建了分层级的同源汉字聚类结构，依托字形相似度完成同族归集，再结合语义特征与使用场景完成细分归类。同时结合中文考级标准与字词使用频率，标注对应的教学难度，适配不同阶段的教学需求。系统支持学习权重动态调整，贴合初学者与进阶学习者的差异化认知特点。建成后该技术可以覆盖3500百个常用汉字，搭建起完善的同源汉字体系，分类准确率表现优异。对比传统人工整理模式，技术大幅提升了汉字知识结构化梳理效率，为智能化规模化中文教学落地提供坚实技术支撑。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274108-30BB-46EF-825B-62637015799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“核心技术”改为“技术</a:t>
            </a:r>
            <a:r>
              <a:rPr lang="en-US" altLang="zh-CN" dirty="0"/>
              <a:t>3——XXXXX</a:t>
            </a:r>
            <a:r>
              <a:rPr lang="zh-CN" altLang="en-US" dirty="0"/>
              <a:t>技术”</a:t>
            </a:r>
            <a:endParaRPr lang="en-US" altLang="zh-CN" dirty="0"/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技术支撑汉字教学内容生产、场景化教学应用与智能交互服务，搭建多层级汉字数据底座与AI算法体系，具备同源字智能系联、跨文化内容适配、古今场景融合的智能文化故事编创能力；依托多模态学习智能体提供专业自然语言问答，适配海内外全阶段中文教学与个性化学习需求。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技术构建字形、字音、字义、文化四维知识图谱。基于CNN模型与余弦相似度算法，字形层收录海量甲骨、金文古文字数据，完成字形特征标注与部件拆解；字音层汇聚古今、方言及十余种多语种对照发音数据；字义层依托权威辞书搭建“本义—引申义—比喻义”三级语义体系，构建字、词、句、诗词一体化语义网络；文化层为3500常用字搭建千级文化标签体系，经专家审核保障内容严谨性。结合图检索、向量检索技术，实现结构化精确检索与语义相似召回，为故事编创提供底层数据支撑。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了使AI生成的故事不仅围绕单个汉字展开，还能覆盖一组相关汉字，本项目在四维知识图谱的基础之上，引入微调后的中文大语言模型，实现人工智能驱动的同源字系联与教学素材自动创编。研究团队利用上千组专业标注数据完成模型少样本学习微调，大幅提升了模型汉字特征提取能力，相比通用模型具备更优秀的专业识别精度。系统借助128维向量加权余弦聚类算法梳理汉字体系，搭建分层级的同源汉字结构体系，以85%相似度为聚类阈值，完成全部常用汉字的归类整理，搭建完备的汉字层级结构，完整覆盖汉语水平考试全部等级字词。算法可根据用户学习阶段自适应调整运算权重，充分贴合初学者与进阶学习者的认知规律。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33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多语种智能对话体后台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针对海外教学痛点，技术落地跨文化语义对齐方案。依托覆盖多区域的跨文化知识库、120+标准化多语种Prompt模板，结合Lora模型微调，规避文化禁忌与认知偏差。经评测，技术生成双语故事教学适配性达标率98%，跨文化内容合规率100%。同时采用古今双场景融合AI叙事算法，支持单字深度创编、多字联动创编两种模式，结合用户HSK等级动态调节内容难度，兼顾汉字字源文化解读与现代场景应用。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274108-30BB-46EF-825B-62637015799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03716-6180-415A-9BE8-081619AF1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C55E5F3-50F8-481B-9BAD-56588AA383C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03716-6180-415A-9BE8-081619AF1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C55E5F3-50F8-481B-9BAD-56588AA383C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6904141" y="4457813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00" dirty="0">
                <a:solidFill>
                  <a:srgbClr val="427D7C">
                    <a:alpha val="8000"/>
                  </a:srgbClr>
                </a:solidFill>
                <a:latin typeface="方正颜真卿楷书 简繁" panose="02000500000000000000" pitchFamily="2" charset="-122"/>
                <a:ea typeface="方正颜真卿楷书 简繁" panose="02000500000000000000" pitchFamily="2" charset="-122"/>
              </a:rPr>
              <a:t>国</a:t>
            </a:r>
            <a:endParaRPr lang="zh-CN" altLang="en-US" sz="7200" dirty="0">
              <a:solidFill>
                <a:srgbClr val="427D7C">
                  <a:alpha val="8000"/>
                </a:srgbClr>
              </a:solidFill>
              <a:latin typeface="方正颜真卿楷书 简繁" panose="02000500000000000000" pitchFamily="2" charset="-122"/>
              <a:ea typeface="方正颜真卿楷书 简繁" panose="02000500000000000000" pitchFamily="2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10801050" y="510706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dirty="0">
                <a:solidFill>
                  <a:srgbClr val="427D7C">
                    <a:alpha val="11000"/>
                  </a:srgbClr>
                </a:solidFill>
                <a:latin typeface="方正颜真卿楷书 简繁" panose="02000500000000000000" pitchFamily="2" charset="-122"/>
                <a:ea typeface="方正颜真卿楷书 简繁" panose="02000500000000000000" pitchFamily="2" charset="-122"/>
              </a:rPr>
              <a:t>家</a:t>
            </a:r>
            <a:endParaRPr lang="zh-CN" altLang="en-US" sz="6000" dirty="0">
              <a:solidFill>
                <a:srgbClr val="427D7C">
                  <a:alpha val="11000"/>
                </a:srgbClr>
              </a:solidFill>
              <a:latin typeface="方正颜真卿楷书 简繁" panose="02000500000000000000" pitchFamily="2" charset="-122"/>
              <a:ea typeface="方正颜真卿楷书 简繁" panose="02000500000000000000" pitchFamily="2" charset="-122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-48511" y="2508164"/>
            <a:ext cx="121058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dirty="0">
                <a:solidFill>
                  <a:srgbClr val="427D7C">
                    <a:alpha val="5000"/>
                  </a:srgbClr>
                </a:solidFill>
                <a:latin typeface="方正颜真卿楷书 简繁" panose="02000500000000000000" pitchFamily="2" charset="-122"/>
                <a:ea typeface="方正颜真卿楷书 简繁" panose="02000500000000000000" pitchFamily="2" charset="-122"/>
              </a:rPr>
              <a:t>朋</a:t>
            </a:r>
            <a:endParaRPr lang="zh-CN" altLang="en-US" sz="8000" dirty="0">
              <a:solidFill>
                <a:srgbClr val="427D7C">
                  <a:alpha val="5000"/>
                </a:srgbClr>
              </a:solidFill>
              <a:latin typeface="方正颜真卿楷书 简繁" panose="02000500000000000000" pitchFamily="2" charset="-122"/>
              <a:ea typeface="方正颜真卿楷书 简繁" panose="02000500000000000000" pitchFamily="2" charset="-122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41228" y="4661001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427D7C">
                    <a:alpha val="7000"/>
                  </a:srgbClr>
                </a:solidFill>
                <a:latin typeface="方正颜真卿楷书 简繁" panose="02000500000000000000" pitchFamily="2" charset="-122"/>
                <a:ea typeface="方正颜真卿楷书 简繁" panose="02000500000000000000" pitchFamily="2" charset="-122"/>
              </a:rPr>
              <a:t>友</a:t>
            </a:r>
            <a:endParaRPr lang="zh-CN" altLang="en-US" sz="4000" dirty="0">
              <a:solidFill>
                <a:srgbClr val="427D7C">
                  <a:alpha val="7000"/>
                </a:srgbClr>
              </a:solidFill>
              <a:latin typeface="方正颜真卿楷书 简繁" panose="02000500000000000000" pitchFamily="2" charset="-122"/>
              <a:ea typeface="方正颜真卿楷书 简繁" panose="02000500000000000000" pitchFamily="2" charset="-122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01919" y="3908176"/>
            <a:ext cx="131318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 dirty="0">
                <a:solidFill>
                  <a:srgbClr val="93876A">
                    <a:alpha val="14000"/>
                  </a:srgbClr>
                </a:solidFill>
                <a:latin typeface="方正甲骨文" panose="02000500000000000000" pitchFamily="2" charset="-122"/>
                <a:ea typeface="方正甲骨文" panose="02000500000000000000" pitchFamily="2" charset="-122"/>
              </a:rPr>
              <a:t>家</a:t>
            </a:r>
            <a:endParaRPr lang="zh-CN" altLang="en-US" sz="8800" dirty="0">
              <a:solidFill>
                <a:srgbClr val="93876A">
                  <a:alpha val="14000"/>
                </a:srgbClr>
              </a:solidFill>
              <a:latin typeface="方正甲骨文" panose="02000500000000000000" pitchFamily="2" charset="-122"/>
              <a:ea typeface="方正甲骨文" panose="02000500000000000000" pitchFamily="2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0802141" y="1919656"/>
            <a:ext cx="121058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dirty="0">
                <a:solidFill>
                  <a:srgbClr val="93876A">
                    <a:alpha val="15000"/>
                  </a:srgbClr>
                </a:solidFill>
                <a:latin typeface="方正甲骨文" panose="02000500000000000000" pitchFamily="2" charset="-122"/>
                <a:ea typeface="方正甲骨文" panose="02000500000000000000" pitchFamily="2" charset="-122"/>
              </a:rPr>
              <a:t>國</a:t>
            </a:r>
            <a:endParaRPr lang="zh-CN" altLang="en-US" sz="8000" dirty="0">
              <a:solidFill>
                <a:srgbClr val="93876A">
                  <a:alpha val="15000"/>
                </a:srgbClr>
              </a:solidFill>
              <a:latin typeface="方正甲骨文" panose="02000500000000000000" pitchFamily="2" charset="-122"/>
              <a:ea typeface="方正甲骨文" panose="02000500000000000000" pitchFamily="2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305578" y="474970"/>
            <a:ext cx="121058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dirty="0">
                <a:solidFill>
                  <a:srgbClr val="9B9B9B">
                    <a:alpha val="15000"/>
                  </a:srgbClr>
                </a:solidFill>
                <a:latin typeface="方正甲骨文" panose="02000500000000000000" pitchFamily="2" charset="-122"/>
                <a:ea typeface="方正甲骨文" panose="02000500000000000000" pitchFamily="2" charset="-122"/>
              </a:rPr>
              <a:t>朋</a:t>
            </a:r>
            <a:endParaRPr lang="zh-CN" altLang="en-US" sz="8000" dirty="0">
              <a:solidFill>
                <a:srgbClr val="9B9B9B">
                  <a:alpha val="15000"/>
                </a:srgbClr>
              </a:solidFill>
              <a:latin typeface="方正甲骨文" panose="02000500000000000000" pitchFamily="2" charset="-122"/>
              <a:ea typeface="方正甲骨文" panose="02000500000000000000" pitchFamily="2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0838855" y="3860202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00" dirty="0">
                <a:solidFill>
                  <a:srgbClr val="9B9B9B">
                    <a:alpha val="17000"/>
                  </a:srgbClr>
                </a:solidFill>
                <a:latin typeface="方正甲骨文" panose="02000500000000000000" pitchFamily="2" charset="-122"/>
                <a:ea typeface="方正甲骨文" panose="02000500000000000000" pitchFamily="2" charset="-122"/>
              </a:rPr>
              <a:t>友</a:t>
            </a:r>
            <a:endParaRPr lang="zh-CN" altLang="en-US" sz="7200" dirty="0">
              <a:solidFill>
                <a:srgbClr val="9B9B9B">
                  <a:alpha val="17000"/>
                </a:srgbClr>
              </a:solidFill>
              <a:latin typeface="方正甲骨文" panose="02000500000000000000" pitchFamily="2" charset="-122"/>
              <a:ea typeface="方正甲骨文" panose="02000500000000000000" pitchFamily="2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3000">
                <a:srgbClr val="70C2BC">
                  <a:alpha val="42000"/>
                </a:srgbClr>
              </a:gs>
              <a:gs pos="71000">
                <a:srgbClr val="B2DFDC">
                  <a:alpha val="31000"/>
                </a:srgbClr>
              </a:gs>
              <a:gs pos="2000">
                <a:srgbClr val="2DA59C">
                  <a:alpha val="25000"/>
                </a:srgbClr>
              </a:gs>
              <a:gs pos="100000">
                <a:srgbClr val="B2DFDC">
                  <a:alpha val="55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-21681" y="5212224"/>
            <a:ext cx="12190095" cy="1892468"/>
            <a:chOff x="-21681" y="5212224"/>
            <a:chExt cx="12190095" cy="1892468"/>
          </a:xfrm>
        </p:grpSpPr>
        <p:sp>
          <p:nvSpPr>
            <p:cNvPr id="17" name="文本框 16"/>
            <p:cNvSpPr txBox="1"/>
            <p:nvPr/>
          </p:nvSpPr>
          <p:spPr>
            <a:xfrm>
              <a:off x="18582" y="5658142"/>
              <a:ext cx="1313180" cy="1446550"/>
            </a:xfrm>
            <a:prstGeom prst="rect">
              <a:avLst/>
            </a:prstGeom>
            <a:noFill/>
            <a:scene3d>
              <a:camera prst="isometricOffAxis1Top">
                <a:rot lat="18377999" lon="20190000" rev="2255999"/>
              </a:camera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zh-CN" altLang="en-US" sz="8800" dirty="0">
                  <a:solidFill>
                    <a:srgbClr val="9B9B9B">
                      <a:alpha val="37000"/>
                    </a:srgbClr>
                  </a:solidFill>
                  <a:latin typeface="方正甲骨文" panose="02000500000000000000" pitchFamily="2" charset="-122"/>
                  <a:ea typeface="方正甲骨文" panose="02000500000000000000" pitchFamily="2" charset="-122"/>
                </a:rPr>
                <a:t>友</a:t>
              </a:r>
              <a:endParaRPr lang="zh-CN" altLang="en-US" sz="8800" dirty="0">
                <a:solidFill>
                  <a:srgbClr val="9B9B9B">
                    <a:alpha val="37000"/>
                  </a:srgbClr>
                </a:solidFill>
                <a:latin typeface="方正甲骨文" panose="02000500000000000000" pitchFamily="2" charset="-122"/>
                <a:ea typeface="方正甲骨文" panose="02000500000000000000" pitchFamily="2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0802141" y="5834275"/>
              <a:ext cx="543739" cy="523220"/>
            </a:xfrm>
            <a:prstGeom prst="rect">
              <a:avLst/>
            </a:prstGeom>
            <a:noFill/>
            <a:scene3d>
              <a:camera prst="isometricOffAxis1Top">
                <a:rot lat="18377999" lon="20190000" rev="2255999"/>
              </a:camera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zh-CN" altLang="en-US" sz="2800" dirty="0">
                  <a:solidFill>
                    <a:srgbClr val="9B9B9B">
                      <a:alpha val="37000"/>
                    </a:srgbClr>
                  </a:solidFill>
                  <a:latin typeface="方正甲骨文" panose="02000500000000000000" pitchFamily="2" charset="-122"/>
                  <a:ea typeface="方正甲骨文" panose="02000500000000000000" pitchFamily="2" charset="-122"/>
                </a:rPr>
                <a:t>朋</a:t>
              </a:r>
              <a:endParaRPr lang="zh-CN" altLang="en-US" sz="2800" dirty="0">
                <a:solidFill>
                  <a:srgbClr val="9B9B9B">
                    <a:alpha val="37000"/>
                  </a:srgbClr>
                </a:solidFill>
                <a:latin typeface="方正甲骨文" panose="02000500000000000000" pitchFamily="2" charset="-122"/>
                <a:ea typeface="方正甲骨文" panose="02000500000000000000" pitchFamily="2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2084237" y="5677880"/>
              <a:ext cx="1031051" cy="1107996"/>
            </a:xfrm>
            <a:prstGeom prst="rect">
              <a:avLst/>
            </a:prstGeom>
            <a:noFill/>
            <a:scene3d>
              <a:camera prst="isometricOffAxis1Top">
                <a:rot lat="18377999" lon="19890000" rev="1656000"/>
              </a:camera>
              <a:lightRig rig="threePt" dir="t"/>
            </a:scene3d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6600" dirty="0">
                  <a:solidFill>
                    <a:srgbClr val="9B9B9B">
                      <a:alpha val="37000"/>
                    </a:srgbClr>
                  </a:solidFill>
                  <a:latin typeface="方正柳公权楷书 简繁" panose="02000500000000000000" charset="-122"/>
                  <a:ea typeface="方正柳公权楷书 简繁" panose="02000500000000000000" charset="-122"/>
                  <a:sym typeface="+mn-ea"/>
                </a:rPr>
                <a:t>友</a:t>
              </a:r>
              <a:endParaRPr lang="zh-CN" altLang="en-US" sz="6600" dirty="0">
                <a:solidFill>
                  <a:srgbClr val="9B9B9B">
                    <a:alpha val="37000"/>
                  </a:srgbClr>
                </a:solidFill>
                <a:latin typeface="方正柳公权楷书 简繁" panose="02000500000000000000" charset="-122"/>
                <a:ea typeface="方正柳公权楷书 简繁" panose="02000500000000000000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3954236" y="5846240"/>
              <a:ext cx="652743" cy="830997"/>
            </a:xfrm>
            <a:prstGeom prst="rect">
              <a:avLst/>
            </a:prstGeom>
            <a:noFill/>
            <a:scene3d>
              <a:camera prst="isometricOffAxis1Top">
                <a:rot lat="18377999" lon="19890000" rev="1656000"/>
              </a:camera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zh-CN" altLang="en-US" sz="4800" dirty="0">
                  <a:solidFill>
                    <a:srgbClr val="9B9B9B">
                      <a:alpha val="37000"/>
                    </a:srgbClr>
                  </a:solidFill>
                  <a:latin typeface="方正李陽冰篆書 繁U" panose="02000500000000000000" charset="-122"/>
                  <a:ea typeface="方正李陽冰篆書 繁U" panose="02000500000000000000" charset="-122"/>
                </a:rPr>
                <a:t>江</a:t>
              </a:r>
              <a:endParaRPr lang="zh-CN" altLang="en-US" sz="4800" dirty="0">
                <a:solidFill>
                  <a:srgbClr val="9B9B9B">
                    <a:alpha val="37000"/>
                  </a:srgbClr>
                </a:solidFill>
                <a:latin typeface="方正李陽冰篆書 繁U" panose="02000500000000000000" charset="-122"/>
                <a:ea typeface="方正李陽冰篆書 繁U" panose="02000500000000000000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737795" y="6027003"/>
              <a:ext cx="800219" cy="830997"/>
            </a:xfrm>
            <a:prstGeom prst="rect">
              <a:avLst/>
            </a:prstGeom>
            <a:noFill/>
            <a:scene3d>
              <a:camera prst="isometricOffAxis1Top">
                <a:rot lat="17777999" lon="1290000" rev="20256000"/>
              </a:camera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zh-CN" altLang="en-US" sz="4800" dirty="0">
                  <a:solidFill>
                    <a:srgbClr val="9B9B9B">
                      <a:alpha val="37000"/>
                    </a:srgbClr>
                  </a:solidFill>
                  <a:latin typeface="方正柳公权楷书 简繁" panose="02000500000000000000" charset="-122"/>
                  <a:ea typeface="方正柳公权楷书 简繁" panose="02000500000000000000" charset="-122"/>
                </a:rPr>
                <a:t>河</a:t>
              </a:r>
              <a:endParaRPr lang="zh-CN" altLang="en-US" sz="4800" dirty="0">
                <a:solidFill>
                  <a:srgbClr val="9B9B9B">
                    <a:alpha val="37000"/>
                  </a:srgbClr>
                </a:solidFill>
                <a:latin typeface="方正柳公权楷书 简繁" panose="02000500000000000000" charset="-122"/>
                <a:ea typeface="方正柳公权楷书 简繁" panose="02000500000000000000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7726680" y="6103513"/>
              <a:ext cx="710451" cy="923330"/>
            </a:xfrm>
            <a:prstGeom prst="rect">
              <a:avLst/>
            </a:prstGeom>
            <a:noFill/>
            <a:scene3d>
              <a:camera prst="isometricOffAxis1Top">
                <a:rot lat="18677999" lon="1290000" rev="20256000"/>
              </a:camera>
              <a:lightRig rig="threePt" dir="t"/>
            </a:scene3d>
          </p:spPr>
          <p:txBody>
            <a:bodyPr wrap="none" rtlCol="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5400" dirty="0">
                  <a:solidFill>
                    <a:srgbClr val="9B9B9B">
                      <a:alpha val="37000"/>
                    </a:srgbClr>
                  </a:solidFill>
                  <a:latin typeface="方正李陽冰篆書 繁U" panose="02000500000000000000" charset="-122"/>
                  <a:ea typeface="方正李陽冰篆書 繁U" panose="02000500000000000000" charset="-122"/>
                </a:rPr>
                <a:t>字</a:t>
              </a:r>
              <a:endParaRPr lang="zh-CN" altLang="en-US" sz="5400" dirty="0">
                <a:solidFill>
                  <a:srgbClr val="9B9B9B">
                    <a:alpha val="37000"/>
                  </a:srgbClr>
                </a:solidFill>
                <a:latin typeface="方正李陽冰篆書 繁U" panose="02000500000000000000" charset="-122"/>
                <a:ea typeface="方正李陽冰篆書 繁U" panose="02000500000000000000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9333276" y="6027003"/>
              <a:ext cx="646331" cy="646331"/>
            </a:xfrm>
            <a:prstGeom prst="rect">
              <a:avLst/>
            </a:prstGeom>
            <a:noFill/>
            <a:scene3d>
              <a:camera prst="isometricOffAxis1Top">
                <a:rot lat="18377999" lon="19890000" rev="1656000"/>
              </a:camera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zh-CN" altLang="en-US" sz="3600" dirty="0">
                  <a:solidFill>
                    <a:srgbClr val="9B9B9B">
                      <a:alpha val="37000"/>
                    </a:srgbClr>
                  </a:solidFill>
                  <a:latin typeface="方正甲骨文" panose="02000500000000000000" pitchFamily="2" charset="-122"/>
                  <a:ea typeface="方正甲骨文" panose="02000500000000000000" pitchFamily="2" charset="-122"/>
                </a:rPr>
                <a:t>武</a:t>
              </a:r>
              <a:endParaRPr lang="zh-CN" altLang="en-US" sz="3600" dirty="0">
                <a:solidFill>
                  <a:srgbClr val="9B9B9B">
                    <a:alpha val="37000"/>
                  </a:srgbClr>
                </a:solidFill>
                <a:latin typeface="方正甲骨文" panose="02000500000000000000" pitchFamily="2" charset="-122"/>
                <a:ea typeface="方正甲骨文" panose="02000500000000000000" pitchFamily="2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32449" y="5212224"/>
              <a:ext cx="543739" cy="954107"/>
            </a:xfrm>
            <a:prstGeom prst="rect">
              <a:avLst/>
            </a:prstGeom>
            <a:noFill/>
            <a:scene3d>
              <a:camera prst="orthographicFront">
                <a:rot lat="0" lon="19199980" rev="0"/>
              </a:camera>
              <a:lightRig rig="threePt" dir="t"/>
            </a:scene3d>
          </p:spPr>
          <p:txBody>
            <a:bodyPr wrap="none" rtlCol="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800" dirty="0">
                  <a:solidFill>
                    <a:srgbClr val="93876A">
                      <a:alpha val="44000"/>
                    </a:srgbClr>
                  </a:solidFill>
                  <a:latin typeface="方正甲骨文" panose="02000500000000000000" pitchFamily="2" charset="-122"/>
                  <a:ea typeface="方正甲骨文" panose="02000500000000000000" pitchFamily="2" charset="-122"/>
                  <a:sym typeface="+mn-ea"/>
                </a:rPr>
                <a:t>國</a:t>
              </a:r>
              <a:endParaRPr lang="zh-CN" altLang="en-US" sz="2800" dirty="0">
                <a:solidFill>
                  <a:srgbClr val="93876A">
                    <a:alpha val="44000"/>
                  </a:srgbClr>
                </a:solidFill>
                <a:latin typeface="方正甲骨文" panose="02000500000000000000" pitchFamily="2" charset="-122"/>
                <a:ea typeface="方正甲骨文" panose="02000500000000000000" pitchFamily="2" charset="-122"/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zh-CN" altLang="en-US" sz="2800" dirty="0">
                  <a:solidFill>
                    <a:srgbClr val="93876A">
                      <a:alpha val="44000"/>
                    </a:srgbClr>
                  </a:solidFill>
                  <a:latin typeface="方正甲骨文" panose="02000500000000000000" pitchFamily="2" charset="-122"/>
                  <a:ea typeface="方正甲骨文" panose="02000500000000000000" pitchFamily="2" charset="-122"/>
                  <a:sym typeface="+mn-ea"/>
                </a:rPr>
                <a:t>家</a:t>
              </a:r>
              <a:endParaRPr lang="zh-CN" altLang="en-US" sz="2800" dirty="0">
                <a:solidFill>
                  <a:srgbClr val="93876A">
                    <a:alpha val="44000"/>
                  </a:srgbClr>
                </a:solidFill>
                <a:latin typeface="方正甲骨文" panose="02000500000000000000" pitchFamily="2" charset="-122"/>
                <a:ea typeface="方正甲骨文" panose="02000500000000000000" pitchFamily="2" charset="-122"/>
                <a:sym typeface="+mn-ea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2679211" y="5366113"/>
              <a:ext cx="415498" cy="646331"/>
            </a:xfrm>
            <a:prstGeom prst="rect">
              <a:avLst/>
            </a:prstGeom>
            <a:noFill/>
            <a:scene3d>
              <a:camera prst="orthographicFront">
                <a:rot lat="0" lon="600002" rev="0"/>
              </a:camera>
              <a:lightRig rig="threePt" dir="t"/>
            </a:scene3d>
          </p:spPr>
          <p:txBody>
            <a:bodyPr wrap="none" rtlCol="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dirty="0">
                  <a:solidFill>
                    <a:srgbClr val="93876A">
                      <a:alpha val="44000"/>
                    </a:srgbClr>
                  </a:solidFill>
                  <a:latin typeface="方正甲骨文" panose="02000500000000000000" pitchFamily="2" charset="-122"/>
                  <a:ea typeface="方正甲骨文" panose="02000500000000000000" pitchFamily="2" charset="-122"/>
                  <a:sym typeface="+mn-ea"/>
                </a:rPr>
                <a:t>春</a:t>
              </a:r>
              <a:endParaRPr lang="zh-CN" altLang="en-US" dirty="0">
                <a:solidFill>
                  <a:srgbClr val="93876A">
                    <a:alpha val="44000"/>
                  </a:srgbClr>
                </a:solidFill>
                <a:latin typeface="方正甲骨文" panose="02000500000000000000" pitchFamily="2" charset="-122"/>
                <a:ea typeface="方正甲骨文" panose="02000500000000000000" pitchFamily="2" charset="-122"/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zh-CN" altLang="en-US" dirty="0">
                  <a:solidFill>
                    <a:srgbClr val="93876A">
                      <a:alpha val="44000"/>
                    </a:srgbClr>
                  </a:solidFill>
                  <a:latin typeface="方正甲骨文" panose="02000500000000000000" pitchFamily="2" charset="-122"/>
                  <a:ea typeface="方正甲骨文" panose="02000500000000000000" pitchFamily="2" charset="-122"/>
                  <a:sym typeface="+mn-ea"/>
                </a:rPr>
                <a:t>秋</a:t>
              </a:r>
              <a:endParaRPr lang="zh-CN" altLang="en-US" dirty="0">
                <a:solidFill>
                  <a:srgbClr val="93876A">
                    <a:alpha val="44000"/>
                  </a:srgbClr>
                </a:solidFill>
                <a:latin typeface="方正甲骨文" panose="02000500000000000000" pitchFamily="2" charset="-122"/>
                <a:ea typeface="方正甲骨文" panose="02000500000000000000" pitchFamily="2" charset="-122"/>
                <a:sym typeface="+mn-ea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6326034" y="5667189"/>
              <a:ext cx="415498" cy="646331"/>
            </a:xfrm>
            <a:prstGeom prst="rect">
              <a:avLst/>
            </a:prstGeom>
            <a:noFill/>
            <a:scene3d>
              <a:camera prst="orthographicFront">
                <a:rot lat="0" lon="2699985" rev="0"/>
              </a:camera>
              <a:lightRig rig="threePt" dir="t"/>
            </a:scene3d>
          </p:spPr>
          <p:txBody>
            <a:bodyPr wrap="none" rtlCol="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dirty="0">
                  <a:solidFill>
                    <a:srgbClr val="93876A">
                      <a:alpha val="44000"/>
                    </a:srgbClr>
                  </a:solidFill>
                  <a:latin typeface="方正甲骨文" panose="02000500000000000000" pitchFamily="2" charset="-122"/>
                  <a:ea typeface="方正甲骨文" panose="02000500000000000000" pitchFamily="2" charset="-122"/>
                  <a:sym typeface="+mn-ea"/>
                </a:rPr>
                <a:t>爾</a:t>
              </a:r>
              <a:endParaRPr lang="zh-CN" altLang="en-US" dirty="0">
                <a:solidFill>
                  <a:srgbClr val="93876A">
                    <a:alpha val="44000"/>
                  </a:srgbClr>
                </a:solidFill>
                <a:latin typeface="方正甲骨文" panose="02000500000000000000" pitchFamily="2" charset="-122"/>
                <a:ea typeface="方正甲骨文" panose="02000500000000000000" pitchFamily="2" charset="-122"/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zh-CN" altLang="en-US" dirty="0">
                  <a:solidFill>
                    <a:srgbClr val="93876A">
                      <a:alpha val="44000"/>
                    </a:srgbClr>
                  </a:solidFill>
                  <a:latin typeface="方正甲骨文" panose="02000500000000000000" pitchFamily="2" charset="-122"/>
                  <a:ea typeface="方正甲骨文" panose="02000500000000000000" pitchFamily="2" charset="-122"/>
                  <a:sym typeface="+mn-ea"/>
                </a:rPr>
                <a:t>我</a:t>
              </a:r>
              <a:endParaRPr lang="zh-CN" altLang="en-US" dirty="0">
                <a:solidFill>
                  <a:srgbClr val="93876A">
                    <a:alpha val="44000"/>
                  </a:srgbClr>
                </a:solidFill>
                <a:latin typeface="方正甲骨文" panose="02000500000000000000" pitchFamily="2" charset="-122"/>
                <a:ea typeface="方正甲骨文" panose="02000500000000000000" pitchFamily="2" charset="-122"/>
                <a:sym typeface="+mn-ea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1149013" y="5875337"/>
              <a:ext cx="487680" cy="707886"/>
            </a:xfrm>
            <a:prstGeom prst="rect">
              <a:avLst/>
            </a:prstGeom>
            <a:noFill/>
            <a:scene3d>
              <a:camera prst="orthographicFront">
                <a:rot lat="0" lon="2700000" rev="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000" dirty="0">
                  <a:solidFill>
                    <a:srgbClr val="93876A">
                      <a:alpha val="44000"/>
                    </a:srgbClr>
                  </a:solidFill>
                  <a:latin typeface="方正甲骨文" panose="02000500000000000000" pitchFamily="2" charset="-122"/>
                  <a:ea typeface="方正甲骨文" panose="02000500000000000000" pitchFamily="2" charset="-122"/>
                  <a:sym typeface="+mn-ea"/>
                </a:rPr>
                <a:t>文</a:t>
              </a:r>
              <a:endParaRPr lang="zh-CN" altLang="en-US" sz="2000" dirty="0">
                <a:solidFill>
                  <a:srgbClr val="93876A">
                    <a:alpha val="44000"/>
                  </a:srgbClr>
                </a:solidFill>
                <a:latin typeface="方正甲骨文" panose="02000500000000000000" pitchFamily="2" charset="-122"/>
                <a:ea typeface="方正甲骨文" panose="02000500000000000000" pitchFamily="2" charset="-122"/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zh-CN" altLang="en-US" sz="2000" dirty="0">
                  <a:solidFill>
                    <a:srgbClr val="93876A">
                      <a:alpha val="44000"/>
                    </a:srgbClr>
                  </a:solidFill>
                  <a:latin typeface="方正甲骨文" panose="02000500000000000000" pitchFamily="2" charset="-122"/>
                  <a:ea typeface="方正甲骨文" panose="02000500000000000000" pitchFamily="2" charset="-122"/>
                  <a:sym typeface="+mn-ea"/>
                </a:rPr>
                <a:t>化</a:t>
              </a:r>
              <a:endParaRPr lang="zh-CN" altLang="en-US" sz="2000" dirty="0">
                <a:solidFill>
                  <a:srgbClr val="93876A">
                    <a:alpha val="44000"/>
                  </a:srgbClr>
                </a:solidFill>
                <a:latin typeface="方正甲骨文" panose="02000500000000000000" pitchFamily="2" charset="-122"/>
                <a:ea typeface="方正甲骨文" panose="02000500000000000000" pitchFamily="2" charset="-122"/>
                <a:sym typeface="+mn-ea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9804321" y="6049006"/>
              <a:ext cx="441146" cy="707886"/>
            </a:xfrm>
            <a:prstGeom prst="rect">
              <a:avLst/>
            </a:prstGeom>
            <a:noFill/>
            <a:scene3d>
              <a:camera prst="orthographicFront">
                <a:rot lat="0" lon="19499990" rev="0"/>
              </a:camera>
              <a:lightRig rig="threePt" dir="t"/>
            </a:scene3d>
          </p:spPr>
          <p:txBody>
            <a:bodyPr wrap="none" rtlCol="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000" dirty="0">
                  <a:solidFill>
                    <a:srgbClr val="93876A">
                      <a:alpha val="44000"/>
                    </a:srgbClr>
                  </a:solidFill>
                  <a:latin typeface="方正甲骨文" panose="02000500000000000000" pitchFamily="2" charset="-122"/>
                  <a:ea typeface="方正甲骨文" panose="02000500000000000000" pitchFamily="2" charset="-122"/>
                  <a:sym typeface="+mn-ea"/>
                </a:rPr>
                <a:t>日</a:t>
              </a:r>
              <a:endParaRPr lang="zh-CN" altLang="en-US" sz="2000" dirty="0">
                <a:solidFill>
                  <a:srgbClr val="93876A">
                    <a:alpha val="44000"/>
                  </a:srgbClr>
                </a:solidFill>
                <a:latin typeface="方正甲骨文" panose="02000500000000000000" pitchFamily="2" charset="-122"/>
                <a:ea typeface="方正甲骨文" panose="02000500000000000000" pitchFamily="2" charset="-122"/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zh-CN" altLang="en-US" sz="2000" dirty="0">
                  <a:solidFill>
                    <a:srgbClr val="93876A">
                      <a:alpha val="44000"/>
                    </a:srgbClr>
                  </a:solidFill>
                  <a:latin typeface="方正甲骨文" panose="02000500000000000000" pitchFamily="2" charset="-122"/>
                  <a:ea typeface="方正甲骨文" panose="02000500000000000000" pitchFamily="2" charset="-122"/>
                  <a:sym typeface="+mn-ea"/>
                </a:rPr>
                <a:t>月</a:t>
              </a:r>
              <a:endParaRPr lang="zh-CN" altLang="en-US" sz="2000" dirty="0">
                <a:solidFill>
                  <a:srgbClr val="93876A">
                    <a:alpha val="44000"/>
                  </a:srgbClr>
                </a:solidFill>
                <a:latin typeface="方正甲骨文" panose="02000500000000000000" pitchFamily="2" charset="-122"/>
                <a:ea typeface="方正甲骨文" panose="02000500000000000000" pitchFamily="2" charset="-122"/>
                <a:sym typeface="+mn-ea"/>
              </a:endParaRPr>
            </a:p>
          </p:txBody>
        </p:sp>
        <p:sp>
          <p:nvSpPr>
            <p:cNvPr id="29" name="任意多边形 55"/>
            <p:cNvSpPr/>
            <p:nvPr/>
          </p:nvSpPr>
          <p:spPr>
            <a:xfrm>
              <a:off x="-21681" y="5844996"/>
              <a:ext cx="12190095" cy="1014731"/>
            </a:xfrm>
            <a:custGeom>
              <a:avLst/>
              <a:gdLst>
                <a:gd name="connsiteX0" fmla="*/ 383 w 21956"/>
                <a:gd name="connsiteY0" fmla="*/ 2758 h 4559"/>
                <a:gd name="connsiteX1" fmla="*/ 5898 w 21956"/>
                <a:gd name="connsiteY1" fmla="*/ 1004 h 4559"/>
                <a:gd name="connsiteX2" fmla="*/ 12989 w 21956"/>
                <a:gd name="connsiteY2" fmla="*/ 2099 h 4559"/>
                <a:gd name="connsiteX3" fmla="*/ 20868 w 21956"/>
                <a:gd name="connsiteY3" fmla="*/ 333 h 4559"/>
                <a:gd name="connsiteX4" fmla="*/ 21196 w 21956"/>
                <a:gd name="connsiteY4" fmla="*/ 287 h 4559"/>
                <a:gd name="connsiteX5" fmla="*/ 16868 w 21956"/>
                <a:gd name="connsiteY5" fmla="*/ 2265 h 4559"/>
                <a:gd name="connsiteX6" fmla="*/ 12216 w 21956"/>
                <a:gd name="connsiteY6" fmla="*/ 3140 h 4559"/>
                <a:gd name="connsiteX7" fmla="*/ 6747 w 21956"/>
                <a:gd name="connsiteY7" fmla="*/ 2536 h 4559"/>
                <a:gd name="connsiteX8" fmla="*/ 605 w 21956"/>
                <a:gd name="connsiteY8" fmla="*/ 4438 h 4559"/>
                <a:gd name="connsiteX9" fmla="*/ 431 w 21956"/>
                <a:gd name="connsiteY9" fmla="*/ 3985 h 4559"/>
                <a:gd name="connsiteX10" fmla="*/ 503 w 21956"/>
                <a:gd name="connsiteY10" fmla="*/ 3491 h 4559"/>
                <a:gd name="connsiteX11" fmla="*/ 383 w 21956"/>
                <a:gd name="connsiteY11" fmla="*/ 2758 h 4559"/>
                <a:gd name="connsiteX0-1" fmla="*/ 10000 w 10000"/>
                <a:gd name="connsiteY0-2" fmla="*/ 0 h 10000"/>
                <a:gd name="connsiteX1-3" fmla="*/ 10000 w 10000"/>
                <a:gd name="connsiteY1-4" fmla="*/ 520 h 10000"/>
                <a:gd name="connsiteX2-5" fmla="*/ 9995 w 10000"/>
                <a:gd name="connsiteY2-6" fmla="*/ 530 h 10000"/>
                <a:gd name="connsiteX3-7" fmla="*/ 8644 w 10000"/>
                <a:gd name="connsiteY3-8" fmla="*/ 6078 h 10000"/>
                <a:gd name="connsiteX4-9" fmla="*/ 5684 w 10000"/>
                <a:gd name="connsiteY4-10" fmla="*/ 7221 h 10000"/>
                <a:gd name="connsiteX5-11" fmla="*/ 2835 w 10000"/>
                <a:gd name="connsiteY5-12" fmla="*/ 5612 h 10000"/>
                <a:gd name="connsiteX6-13" fmla="*/ 7 w 10000"/>
                <a:gd name="connsiteY6-14" fmla="*/ 9987 h 10000"/>
                <a:gd name="connsiteX7-15" fmla="*/ 0 w 10000"/>
                <a:gd name="connsiteY7-16" fmla="*/ 10000 h 10000"/>
                <a:gd name="connsiteX8-17" fmla="*/ 0 w 10000"/>
                <a:gd name="connsiteY8-18" fmla="*/ 3765 h 10000"/>
                <a:gd name="connsiteX9-19" fmla="*/ 5 w 10000"/>
                <a:gd name="connsiteY9-20" fmla="*/ 3752 h 10000"/>
                <a:gd name="connsiteX10-21" fmla="*/ 2393 w 10000"/>
                <a:gd name="connsiteY10-22" fmla="*/ 1529 h 10000"/>
                <a:gd name="connsiteX11-23" fmla="*/ 6086 w 10000"/>
                <a:gd name="connsiteY11-24" fmla="*/ 4447 h 10000"/>
                <a:gd name="connsiteX12" fmla="*/ 9993 w 10000"/>
                <a:gd name="connsiteY12" fmla="*/ 11 h 10000"/>
                <a:gd name="connsiteX13" fmla="*/ 10000 w 10000"/>
                <a:gd name="connsiteY13" fmla="*/ 0 h 10000"/>
                <a:gd name="connsiteX0-25" fmla="*/ 10000 w 10000"/>
                <a:gd name="connsiteY0-26" fmla="*/ 0 h 10000"/>
                <a:gd name="connsiteX1-27" fmla="*/ 10000 w 10000"/>
                <a:gd name="connsiteY1-28" fmla="*/ 520 h 10000"/>
                <a:gd name="connsiteX2-29" fmla="*/ 9995 w 10000"/>
                <a:gd name="connsiteY2-30" fmla="*/ 530 h 10000"/>
                <a:gd name="connsiteX3-31" fmla="*/ 8644 w 10000"/>
                <a:gd name="connsiteY3-32" fmla="*/ 6078 h 10000"/>
                <a:gd name="connsiteX4-33" fmla="*/ 5684 w 10000"/>
                <a:gd name="connsiteY4-34" fmla="*/ 7221 h 10000"/>
                <a:gd name="connsiteX5-35" fmla="*/ 2835 w 10000"/>
                <a:gd name="connsiteY5-36" fmla="*/ 5612 h 10000"/>
                <a:gd name="connsiteX6-37" fmla="*/ 7 w 10000"/>
                <a:gd name="connsiteY6-38" fmla="*/ 9987 h 10000"/>
                <a:gd name="connsiteX7-39" fmla="*/ 0 w 10000"/>
                <a:gd name="connsiteY7-40" fmla="*/ 10000 h 10000"/>
                <a:gd name="connsiteX8-41" fmla="*/ 0 w 10000"/>
                <a:gd name="connsiteY8-42" fmla="*/ 3765 h 10000"/>
                <a:gd name="connsiteX9-43" fmla="*/ 5 w 10000"/>
                <a:gd name="connsiteY9-44" fmla="*/ 3752 h 10000"/>
                <a:gd name="connsiteX10-45" fmla="*/ 2393 w 10000"/>
                <a:gd name="connsiteY10-46" fmla="*/ 1529 h 10000"/>
                <a:gd name="connsiteX11-47" fmla="*/ 6086 w 10000"/>
                <a:gd name="connsiteY11-48" fmla="*/ 4447 h 10000"/>
                <a:gd name="connsiteX12-49" fmla="*/ 9993 w 10000"/>
                <a:gd name="connsiteY12-50" fmla="*/ 11 h 10000"/>
                <a:gd name="connsiteX13-51" fmla="*/ 10000 w 10000"/>
                <a:gd name="connsiteY13-52" fmla="*/ 0 h 10000"/>
                <a:gd name="connsiteX0-53" fmla="*/ 10000 w 10000"/>
                <a:gd name="connsiteY0-54" fmla="*/ 0 h 10000"/>
                <a:gd name="connsiteX1-55" fmla="*/ 10000 w 10000"/>
                <a:gd name="connsiteY1-56" fmla="*/ 520 h 10000"/>
                <a:gd name="connsiteX2-57" fmla="*/ 9995 w 10000"/>
                <a:gd name="connsiteY2-58" fmla="*/ 530 h 10000"/>
                <a:gd name="connsiteX3-59" fmla="*/ 8644 w 10000"/>
                <a:gd name="connsiteY3-60" fmla="*/ 6078 h 10000"/>
                <a:gd name="connsiteX4-61" fmla="*/ 5877 w 10000"/>
                <a:gd name="connsiteY4-62" fmla="*/ 8035 h 10000"/>
                <a:gd name="connsiteX5-63" fmla="*/ 2835 w 10000"/>
                <a:gd name="connsiteY5-64" fmla="*/ 5612 h 10000"/>
                <a:gd name="connsiteX6-65" fmla="*/ 7 w 10000"/>
                <a:gd name="connsiteY6-66" fmla="*/ 9987 h 10000"/>
                <a:gd name="connsiteX7-67" fmla="*/ 0 w 10000"/>
                <a:gd name="connsiteY7-68" fmla="*/ 10000 h 10000"/>
                <a:gd name="connsiteX8-69" fmla="*/ 0 w 10000"/>
                <a:gd name="connsiteY8-70" fmla="*/ 3765 h 10000"/>
                <a:gd name="connsiteX9-71" fmla="*/ 5 w 10000"/>
                <a:gd name="connsiteY9-72" fmla="*/ 3752 h 10000"/>
                <a:gd name="connsiteX10-73" fmla="*/ 2393 w 10000"/>
                <a:gd name="connsiteY10-74" fmla="*/ 1529 h 10000"/>
                <a:gd name="connsiteX11-75" fmla="*/ 6086 w 10000"/>
                <a:gd name="connsiteY11-76" fmla="*/ 4447 h 10000"/>
                <a:gd name="connsiteX12-77" fmla="*/ 9993 w 10000"/>
                <a:gd name="connsiteY12-78" fmla="*/ 11 h 10000"/>
                <a:gd name="connsiteX13-79" fmla="*/ 10000 w 10000"/>
                <a:gd name="connsiteY13-80" fmla="*/ 0 h 10000"/>
                <a:gd name="connsiteX0-81" fmla="*/ 10000 w 10000"/>
                <a:gd name="connsiteY0-82" fmla="*/ 0 h 10000"/>
                <a:gd name="connsiteX1-83" fmla="*/ 10000 w 10000"/>
                <a:gd name="connsiteY1-84" fmla="*/ 520 h 10000"/>
                <a:gd name="connsiteX2-85" fmla="*/ 9995 w 10000"/>
                <a:gd name="connsiteY2-86" fmla="*/ 530 h 10000"/>
                <a:gd name="connsiteX3-87" fmla="*/ 8644 w 10000"/>
                <a:gd name="connsiteY3-88" fmla="*/ 6078 h 10000"/>
                <a:gd name="connsiteX4-89" fmla="*/ 5877 w 10000"/>
                <a:gd name="connsiteY4-90" fmla="*/ 8035 h 10000"/>
                <a:gd name="connsiteX5-91" fmla="*/ 2835 w 10000"/>
                <a:gd name="connsiteY5-92" fmla="*/ 5612 h 10000"/>
                <a:gd name="connsiteX6-93" fmla="*/ 7 w 10000"/>
                <a:gd name="connsiteY6-94" fmla="*/ 9987 h 10000"/>
                <a:gd name="connsiteX7-95" fmla="*/ 0 w 10000"/>
                <a:gd name="connsiteY7-96" fmla="*/ 10000 h 10000"/>
                <a:gd name="connsiteX8-97" fmla="*/ 0 w 10000"/>
                <a:gd name="connsiteY8-98" fmla="*/ 3765 h 10000"/>
                <a:gd name="connsiteX9-99" fmla="*/ 5 w 10000"/>
                <a:gd name="connsiteY9-100" fmla="*/ 3752 h 10000"/>
                <a:gd name="connsiteX10-101" fmla="*/ 2393 w 10000"/>
                <a:gd name="connsiteY10-102" fmla="*/ 1529 h 10000"/>
                <a:gd name="connsiteX11-103" fmla="*/ 6946 w 10000"/>
                <a:gd name="connsiteY11-104" fmla="*/ 4948 h 10000"/>
                <a:gd name="connsiteX12-105" fmla="*/ 9993 w 10000"/>
                <a:gd name="connsiteY12-106" fmla="*/ 11 h 10000"/>
                <a:gd name="connsiteX13-107" fmla="*/ 10000 w 10000"/>
                <a:gd name="connsiteY13-108" fmla="*/ 0 h 10000"/>
                <a:gd name="connsiteX0-109" fmla="*/ 10000 w 10000"/>
                <a:gd name="connsiteY0-110" fmla="*/ 0 h 10000"/>
                <a:gd name="connsiteX1-111" fmla="*/ 10000 w 10000"/>
                <a:gd name="connsiteY1-112" fmla="*/ 520 h 10000"/>
                <a:gd name="connsiteX2-113" fmla="*/ 9995 w 10000"/>
                <a:gd name="connsiteY2-114" fmla="*/ 530 h 10000"/>
                <a:gd name="connsiteX3-115" fmla="*/ 8644 w 10000"/>
                <a:gd name="connsiteY3-116" fmla="*/ 6078 h 10000"/>
                <a:gd name="connsiteX4-117" fmla="*/ 5877 w 10000"/>
                <a:gd name="connsiteY4-118" fmla="*/ 8035 h 10000"/>
                <a:gd name="connsiteX5-119" fmla="*/ 2835 w 10000"/>
                <a:gd name="connsiteY5-120" fmla="*/ 5612 h 10000"/>
                <a:gd name="connsiteX6-121" fmla="*/ 7 w 10000"/>
                <a:gd name="connsiteY6-122" fmla="*/ 9987 h 10000"/>
                <a:gd name="connsiteX7-123" fmla="*/ 0 w 10000"/>
                <a:gd name="connsiteY7-124" fmla="*/ 10000 h 10000"/>
                <a:gd name="connsiteX8-125" fmla="*/ 0 w 10000"/>
                <a:gd name="connsiteY8-126" fmla="*/ 3765 h 10000"/>
                <a:gd name="connsiteX9-127" fmla="*/ 5 w 10000"/>
                <a:gd name="connsiteY9-128" fmla="*/ 3752 h 10000"/>
                <a:gd name="connsiteX10-129" fmla="*/ 2393 w 10000"/>
                <a:gd name="connsiteY10-130" fmla="*/ 1529 h 10000"/>
                <a:gd name="connsiteX11-131" fmla="*/ 6946 w 10000"/>
                <a:gd name="connsiteY11-132" fmla="*/ 4948 h 10000"/>
                <a:gd name="connsiteX12-133" fmla="*/ 9993 w 10000"/>
                <a:gd name="connsiteY12-134" fmla="*/ 11 h 10000"/>
                <a:gd name="connsiteX13-135" fmla="*/ 10000 w 10000"/>
                <a:gd name="connsiteY13-136" fmla="*/ 0 h 10000"/>
                <a:gd name="connsiteX0-137" fmla="*/ 10000 w 10000"/>
                <a:gd name="connsiteY0-138" fmla="*/ 0 h 10000"/>
                <a:gd name="connsiteX1-139" fmla="*/ 10000 w 10000"/>
                <a:gd name="connsiteY1-140" fmla="*/ 520 h 10000"/>
                <a:gd name="connsiteX2-141" fmla="*/ 9995 w 10000"/>
                <a:gd name="connsiteY2-142" fmla="*/ 530 h 10000"/>
                <a:gd name="connsiteX3-143" fmla="*/ 8644 w 10000"/>
                <a:gd name="connsiteY3-144" fmla="*/ 6078 h 10000"/>
                <a:gd name="connsiteX4-145" fmla="*/ 5877 w 10000"/>
                <a:gd name="connsiteY4-146" fmla="*/ 8035 h 10000"/>
                <a:gd name="connsiteX5-147" fmla="*/ 2835 w 10000"/>
                <a:gd name="connsiteY5-148" fmla="*/ 5612 h 10000"/>
                <a:gd name="connsiteX6-149" fmla="*/ 7 w 10000"/>
                <a:gd name="connsiteY6-150" fmla="*/ 9987 h 10000"/>
                <a:gd name="connsiteX7-151" fmla="*/ 0 w 10000"/>
                <a:gd name="connsiteY7-152" fmla="*/ 10000 h 10000"/>
                <a:gd name="connsiteX8-153" fmla="*/ 0 w 10000"/>
                <a:gd name="connsiteY8-154" fmla="*/ 3765 h 10000"/>
                <a:gd name="connsiteX9-155" fmla="*/ 5 w 10000"/>
                <a:gd name="connsiteY9-156" fmla="*/ 3752 h 10000"/>
                <a:gd name="connsiteX10-157" fmla="*/ 2393 w 10000"/>
                <a:gd name="connsiteY10-158" fmla="*/ 1529 h 10000"/>
                <a:gd name="connsiteX11-159" fmla="*/ 6946 w 10000"/>
                <a:gd name="connsiteY11-160" fmla="*/ 4948 h 10000"/>
                <a:gd name="connsiteX12-161" fmla="*/ 9993 w 10000"/>
                <a:gd name="connsiteY12-162" fmla="*/ 11 h 10000"/>
                <a:gd name="connsiteX13-163" fmla="*/ 10000 w 10000"/>
                <a:gd name="connsiteY13-164" fmla="*/ 0 h 10000"/>
                <a:gd name="connsiteX0-165" fmla="*/ 10000 w 10000"/>
                <a:gd name="connsiteY0-166" fmla="*/ 0 h 10000"/>
                <a:gd name="connsiteX1-167" fmla="*/ 10000 w 10000"/>
                <a:gd name="connsiteY1-168" fmla="*/ 520 h 10000"/>
                <a:gd name="connsiteX2-169" fmla="*/ 9995 w 10000"/>
                <a:gd name="connsiteY2-170" fmla="*/ 530 h 10000"/>
                <a:gd name="connsiteX3-171" fmla="*/ 8415 w 10000"/>
                <a:gd name="connsiteY3-172" fmla="*/ 6141 h 10000"/>
                <a:gd name="connsiteX4-173" fmla="*/ 5877 w 10000"/>
                <a:gd name="connsiteY4-174" fmla="*/ 8035 h 10000"/>
                <a:gd name="connsiteX5-175" fmla="*/ 2835 w 10000"/>
                <a:gd name="connsiteY5-176" fmla="*/ 5612 h 10000"/>
                <a:gd name="connsiteX6-177" fmla="*/ 7 w 10000"/>
                <a:gd name="connsiteY6-178" fmla="*/ 9987 h 10000"/>
                <a:gd name="connsiteX7-179" fmla="*/ 0 w 10000"/>
                <a:gd name="connsiteY7-180" fmla="*/ 10000 h 10000"/>
                <a:gd name="connsiteX8-181" fmla="*/ 0 w 10000"/>
                <a:gd name="connsiteY8-182" fmla="*/ 3765 h 10000"/>
                <a:gd name="connsiteX9-183" fmla="*/ 5 w 10000"/>
                <a:gd name="connsiteY9-184" fmla="*/ 3752 h 10000"/>
                <a:gd name="connsiteX10-185" fmla="*/ 2393 w 10000"/>
                <a:gd name="connsiteY10-186" fmla="*/ 1529 h 10000"/>
                <a:gd name="connsiteX11-187" fmla="*/ 6946 w 10000"/>
                <a:gd name="connsiteY11-188" fmla="*/ 4948 h 10000"/>
                <a:gd name="connsiteX12-189" fmla="*/ 9993 w 10000"/>
                <a:gd name="connsiteY12-190" fmla="*/ 11 h 10000"/>
                <a:gd name="connsiteX13-191" fmla="*/ 10000 w 10000"/>
                <a:gd name="connsiteY13-192" fmla="*/ 0 h 10000"/>
                <a:gd name="connsiteX0-193" fmla="*/ 10000 w 10000"/>
                <a:gd name="connsiteY0-194" fmla="*/ 0 h 10000"/>
                <a:gd name="connsiteX1-195" fmla="*/ 10000 w 10000"/>
                <a:gd name="connsiteY1-196" fmla="*/ 520 h 10000"/>
                <a:gd name="connsiteX2-197" fmla="*/ 9995 w 10000"/>
                <a:gd name="connsiteY2-198" fmla="*/ 530 h 10000"/>
                <a:gd name="connsiteX3-199" fmla="*/ 8415 w 10000"/>
                <a:gd name="connsiteY3-200" fmla="*/ 6141 h 10000"/>
                <a:gd name="connsiteX4-201" fmla="*/ 5877 w 10000"/>
                <a:gd name="connsiteY4-202" fmla="*/ 8035 h 10000"/>
                <a:gd name="connsiteX5-203" fmla="*/ 2835 w 10000"/>
                <a:gd name="connsiteY5-204" fmla="*/ 5612 h 10000"/>
                <a:gd name="connsiteX6-205" fmla="*/ 7 w 10000"/>
                <a:gd name="connsiteY6-206" fmla="*/ 9987 h 10000"/>
                <a:gd name="connsiteX7-207" fmla="*/ 0 w 10000"/>
                <a:gd name="connsiteY7-208" fmla="*/ 10000 h 10000"/>
                <a:gd name="connsiteX8-209" fmla="*/ 0 w 10000"/>
                <a:gd name="connsiteY8-210" fmla="*/ 3765 h 10000"/>
                <a:gd name="connsiteX9-211" fmla="*/ 5 w 10000"/>
                <a:gd name="connsiteY9-212" fmla="*/ 3752 h 10000"/>
                <a:gd name="connsiteX10-213" fmla="*/ 2393 w 10000"/>
                <a:gd name="connsiteY10-214" fmla="*/ 1529 h 10000"/>
                <a:gd name="connsiteX11-215" fmla="*/ 6946 w 10000"/>
                <a:gd name="connsiteY11-216" fmla="*/ 4948 h 10000"/>
                <a:gd name="connsiteX12-217" fmla="*/ 9993 w 10000"/>
                <a:gd name="connsiteY12-218" fmla="*/ 11 h 10000"/>
                <a:gd name="connsiteX13-219" fmla="*/ 10000 w 10000"/>
                <a:gd name="connsiteY13-220" fmla="*/ 0 h 10000"/>
                <a:gd name="connsiteX0-221" fmla="*/ 10000 w 10000"/>
                <a:gd name="connsiteY0-222" fmla="*/ 0 h 10000"/>
                <a:gd name="connsiteX1-223" fmla="*/ 10000 w 10000"/>
                <a:gd name="connsiteY1-224" fmla="*/ 520 h 10000"/>
                <a:gd name="connsiteX2-225" fmla="*/ 9995 w 10000"/>
                <a:gd name="connsiteY2-226" fmla="*/ 530 h 10000"/>
                <a:gd name="connsiteX3-227" fmla="*/ 8415 w 10000"/>
                <a:gd name="connsiteY3-228" fmla="*/ 6141 h 10000"/>
                <a:gd name="connsiteX4-229" fmla="*/ 5877 w 10000"/>
                <a:gd name="connsiteY4-230" fmla="*/ 8035 h 10000"/>
                <a:gd name="connsiteX5-231" fmla="*/ 2835 w 10000"/>
                <a:gd name="connsiteY5-232" fmla="*/ 5612 h 10000"/>
                <a:gd name="connsiteX6-233" fmla="*/ 7 w 10000"/>
                <a:gd name="connsiteY6-234" fmla="*/ 9987 h 10000"/>
                <a:gd name="connsiteX7-235" fmla="*/ 0 w 10000"/>
                <a:gd name="connsiteY7-236" fmla="*/ 10000 h 10000"/>
                <a:gd name="connsiteX8-237" fmla="*/ 0 w 10000"/>
                <a:gd name="connsiteY8-238" fmla="*/ 3765 h 10000"/>
                <a:gd name="connsiteX9-239" fmla="*/ 5 w 10000"/>
                <a:gd name="connsiteY9-240" fmla="*/ 3752 h 10000"/>
                <a:gd name="connsiteX10-241" fmla="*/ 2393 w 10000"/>
                <a:gd name="connsiteY10-242" fmla="*/ 1529 h 10000"/>
                <a:gd name="connsiteX11-243" fmla="*/ 6946 w 10000"/>
                <a:gd name="connsiteY11-244" fmla="*/ 4948 h 10000"/>
                <a:gd name="connsiteX12-245" fmla="*/ 9993 w 10000"/>
                <a:gd name="connsiteY12-246" fmla="*/ 11 h 10000"/>
                <a:gd name="connsiteX13-247" fmla="*/ 10000 w 10000"/>
                <a:gd name="connsiteY13-248" fmla="*/ 0 h 10000"/>
                <a:gd name="connsiteX0-249" fmla="*/ 10000 w 10000"/>
                <a:gd name="connsiteY0-250" fmla="*/ 0 h 10000"/>
                <a:gd name="connsiteX1-251" fmla="*/ 10000 w 10000"/>
                <a:gd name="connsiteY1-252" fmla="*/ 520 h 10000"/>
                <a:gd name="connsiteX2-253" fmla="*/ 9995 w 10000"/>
                <a:gd name="connsiteY2-254" fmla="*/ 530 h 10000"/>
                <a:gd name="connsiteX3-255" fmla="*/ 8415 w 10000"/>
                <a:gd name="connsiteY3-256" fmla="*/ 6141 h 10000"/>
                <a:gd name="connsiteX4-257" fmla="*/ 5940 w 10000"/>
                <a:gd name="connsiteY4-258" fmla="*/ 7221 h 10000"/>
                <a:gd name="connsiteX5-259" fmla="*/ 2835 w 10000"/>
                <a:gd name="connsiteY5-260" fmla="*/ 5612 h 10000"/>
                <a:gd name="connsiteX6-261" fmla="*/ 7 w 10000"/>
                <a:gd name="connsiteY6-262" fmla="*/ 9987 h 10000"/>
                <a:gd name="connsiteX7-263" fmla="*/ 0 w 10000"/>
                <a:gd name="connsiteY7-264" fmla="*/ 10000 h 10000"/>
                <a:gd name="connsiteX8-265" fmla="*/ 0 w 10000"/>
                <a:gd name="connsiteY8-266" fmla="*/ 3765 h 10000"/>
                <a:gd name="connsiteX9-267" fmla="*/ 5 w 10000"/>
                <a:gd name="connsiteY9-268" fmla="*/ 3752 h 10000"/>
                <a:gd name="connsiteX10-269" fmla="*/ 2393 w 10000"/>
                <a:gd name="connsiteY10-270" fmla="*/ 1529 h 10000"/>
                <a:gd name="connsiteX11-271" fmla="*/ 6946 w 10000"/>
                <a:gd name="connsiteY11-272" fmla="*/ 4948 h 10000"/>
                <a:gd name="connsiteX12-273" fmla="*/ 9993 w 10000"/>
                <a:gd name="connsiteY12-274" fmla="*/ 11 h 10000"/>
                <a:gd name="connsiteX13-275" fmla="*/ 10000 w 10000"/>
                <a:gd name="connsiteY13-276" fmla="*/ 0 h 10000"/>
                <a:gd name="connsiteX0-277" fmla="*/ 10000 w 10000"/>
                <a:gd name="connsiteY0-278" fmla="*/ 0 h 10000"/>
                <a:gd name="connsiteX1-279" fmla="*/ 10000 w 10000"/>
                <a:gd name="connsiteY1-280" fmla="*/ 520 h 10000"/>
                <a:gd name="connsiteX2-281" fmla="*/ 9995 w 10000"/>
                <a:gd name="connsiteY2-282" fmla="*/ 530 h 10000"/>
                <a:gd name="connsiteX3-283" fmla="*/ 8415 w 10000"/>
                <a:gd name="connsiteY3-284" fmla="*/ 6141 h 10000"/>
                <a:gd name="connsiteX4-285" fmla="*/ 5940 w 10000"/>
                <a:gd name="connsiteY4-286" fmla="*/ 7221 h 10000"/>
                <a:gd name="connsiteX5-287" fmla="*/ 2835 w 10000"/>
                <a:gd name="connsiteY5-288" fmla="*/ 5612 h 10000"/>
                <a:gd name="connsiteX6-289" fmla="*/ 7 w 10000"/>
                <a:gd name="connsiteY6-290" fmla="*/ 9987 h 10000"/>
                <a:gd name="connsiteX7-291" fmla="*/ 0 w 10000"/>
                <a:gd name="connsiteY7-292" fmla="*/ 10000 h 10000"/>
                <a:gd name="connsiteX8-293" fmla="*/ 0 w 10000"/>
                <a:gd name="connsiteY8-294" fmla="*/ 3765 h 10000"/>
                <a:gd name="connsiteX9-295" fmla="*/ 5 w 10000"/>
                <a:gd name="connsiteY9-296" fmla="*/ 3752 h 10000"/>
                <a:gd name="connsiteX10-297" fmla="*/ 2393 w 10000"/>
                <a:gd name="connsiteY10-298" fmla="*/ 1529 h 10000"/>
                <a:gd name="connsiteX11-299" fmla="*/ 6946 w 10000"/>
                <a:gd name="connsiteY11-300" fmla="*/ 4948 h 10000"/>
                <a:gd name="connsiteX12-301" fmla="*/ 9993 w 10000"/>
                <a:gd name="connsiteY12-302" fmla="*/ 11 h 10000"/>
                <a:gd name="connsiteX13-303" fmla="*/ 10000 w 10000"/>
                <a:gd name="connsiteY13-304" fmla="*/ 0 h 10000"/>
                <a:gd name="connsiteX0-305" fmla="*/ 10000 w 10000"/>
                <a:gd name="connsiteY0-306" fmla="*/ 0 h 10000"/>
                <a:gd name="connsiteX1-307" fmla="*/ 10000 w 10000"/>
                <a:gd name="connsiteY1-308" fmla="*/ 520 h 10000"/>
                <a:gd name="connsiteX2-309" fmla="*/ 9995 w 10000"/>
                <a:gd name="connsiteY2-310" fmla="*/ 530 h 10000"/>
                <a:gd name="connsiteX3-311" fmla="*/ 8415 w 10000"/>
                <a:gd name="connsiteY3-312" fmla="*/ 6141 h 10000"/>
                <a:gd name="connsiteX4-313" fmla="*/ 5924 w 10000"/>
                <a:gd name="connsiteY4-314" fmla="*/ 8285 h 10000"/>
                <a:gd name="connsiteX5-315" fmla="*/ 2835 w 10000"/>
                <a:gd name="connsiteY5-316" fmla="*/ 5612 h 10000"/>
                <a:gd name="connsiteX6-317" fmla="*/ 7 w 10000"/>
                <a:gd name="connsiteY6-318" fmla="*/ 9987 h 10000"/>
                <a:gd name="connsiteX7-319" fmla="*/ 0 w 10000"/>
                <a:gd name="connsiteY7-320" fmla="*/ 10000 h 10000"/>
                <a:gd name="connsiteX8-321" fmla="*/ 0 w 10000"/>
                <a:gd name="connsiteY8-322" fmla="*/ 3765 h 10000"/>
                <a:gd name="connsiteX9-323" fmla="*/ 5 w 10000"/>
                <a:gd name="connsiteY9-324" fmla="*/ 3752 h 10000"/>
                <a:gd name="connsiteX10-325" fmla="*/ 2393 w 10000"/>
                <a:gd name="connsiteY10-326" fmla="*/ 1529 h 10000"/>
                <a:gd name="connsiteX11-327" fmla="*/ 6946 w 10000"/>
                <a:gd name="connsiteY11-328" fmla="*/ 4948 h 10000"/>
                <a:gd name="connsiteX12-329" fmla="*/ 9993 w 10000"/>
                <a:gd name="connsiteY12-330" fmla="*/ 11 h 10000"/>
                <a:gd name="connsiteX13-331" fmla="*/ 10000 w 10000"/>
                <a:gd name="connsiteY13-332" fmla="*/ 0 h 10000"/>
                <a:gd name="connsiteX0-333" fmla="*/ 10000 w 10000"/>
                <a:gd name="connsiteY0-334" fmla="*/ 0 h 10000"/>
                <a:gd name="connsiteX1-335" fmla="*/ 10000 w 10000"/>
                <a:gd name="connsiteY1-336" fmla="*/ 520 h 10000"/>
                <a:gd name="connsiteX2-337" fmla="*/ 9995 w 10000"/>
                <a:gd name="connsiteY2-338" fmla="*/ 530 h 10000"/>
                <a:gd name="connsiteX3-339" fmla="*/ 8415 w 10000"/>
                <a:gd name="connsiteY3-340" fmla="*/ 6141 h 10000"/>
                <a:gd name="connsiteX4-341" fmla="*/ 5924 w 10000"/>
                <a:gd name="connsiteY4-342" fmla="*/ 8285 h 10000"/>
                <a:gd name="connsiteX5-343" fmla="*/ 2835 w 10000"/>
                <a:gd name="connsiteY5-344" fmla="*/ 5612 h 10000"/>
                <a:gd name="connsiteX6-345" fmla="*/ 7 w 10000"/>
                <a:gd name="connsiteY6-346" fmla="*/ 9987 h 10000"/>
                <a:gd name="connsiteX7-347" fmla="*/ 0 w 10000"/>
                <a:gd name="connsiteY7-348" fmla="*/ 10000 h 10000"/>
                <a:gd name="connsiteX8-349" fmla="*/ 0 w 10000"/>
                <a:gd name="connsiteY8-350" fmla="*/ 3765 h 10000"/>
                <a:gd name="connsiteX9-351" fmla="*/ 5 w 10000"/>
                <a:gd name="connsiteY9-352" fmla="*/ 3752 h 10000"/>
                <a:gd name="connsiteX10-353" fmla="*/ 2393 w 10000"/>
                <a:gd name="connsiteY10-354" fmla="*/ 1529 h 10000"/>
                <a:gd name="connsiteX11-355" fmla="*/ 6946 w 10000"/>
                <a:gd name="connsiteY11-356" fmla="*/ 4948 h 10000"/>
                <a:gd name="connsiteX12-357" fmla="*/ 9993 w 10000"/>
                <a:gd name="connsiteY12-358" fmla="*/ 11 h 10000"/>
                <a:gd name="connsiteX13-359" fmla="*/ 10000 w 10000"/>
                <a:gd name="connsiteY13-360" fmla="*/ 0 h 10000"/>
                <a:gd name="connsiteX0-361" fmla="*/ 10000 w 10000"/>
                <a:gd name="connsiteY0-362" fmla="*/ 0 h 10000"/>
                <a:gd name="connsiteX1-363" fmla="*/ 10000 w 10000"/>
                <a:gd name="connsiteY1-364" fmla="*/ 520 h 10000"/>
                <a:gd name="connsiteX2-365" fmla="*/ 9995 w 10000"/>
                <a:gd name="connsiteY2-366" fmla="*/ 530 h 10000"/>
                <a:gd name="connsiteX3-367" fmla="*/ 8415 w 10000"/>
                <a:gd name="connsiteY3-368" fmla="*/ 6141 h 10000"/>
                <a:gd name="connsiteX4-369" fmla="*/ 5924 w 10000"/>
                <a:gd name="connsiteY4-370" fmla="*/ 8285 h 10000"/>
                <a:gd name="connsiteX5-371" fmla="*/ 2835 w 10000"/>
                <a:gd name="connsiteY5-372" fmla="*/ 5612 h 10000"/>
                <a:gd name="connsiteX6-373" fmla="*/ 7 w 10000"/>
                <a:gd name="connsiteY6-374" fmla="*/ 9987 h 10000"/>
                <a:gd name="connsiteX7-375" fmla="*/ 0 w 10000"/>
                <a:gd name="connsiteY7-376" fmla="*/ 10000 h 10000"/>
                <a:gd name="connsiteX8-377" fmla="*/ 0 w 10000"/>
                <a:gd name="connsiteY8-378" fmla="*/ 3765 h 10000"/>
                <a:gd name="connsiteX9-379" fmla="*/ 5 w 10000"/>
                <a:gd name="connsiteY9-380" fmla="*/ 3752 h 10000"/>
                <a:gd name="connsiteX10-381" fmla="*/ 2393 w 10000"/>
                <a:gd name="connsiteY10-382" fmla="*/ 1529 h 10000"/>
                <a:gd name="connsiteX11-383" fmla="*/ 6868 w 10000"/>
                <a:gd name="connsiteY11-384" fmla="*/ 4948 h 10000"/>
                <a:gd name="connsiteX12-385" fmla="*/ 9993 w 10000"/>
                <a:gd name="connsiteY12-386" fmla="*/ 11 h 10000"/>
                <a:gd name="connsiteX13-387" fmla="*/ 10000 w 10000"/>
                <a:gd name="connsiteY13-388" fmla="*/ 0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49" y="connsiteY12-50"/>
                </a:cxn>
                <a:cxn ang="0">
                  <a:pos x="connsiteX13-51" y="connsiteY13-52"/>
                </a:cxn>
              </a:cxnLst>
              <a:rect l="l" t="t" r="r" b="b"/>
              <a:pathLst>
                <a:path w="10000" h="10000">
                  <a:moveTo>
                    <a:pt x="10000" y="0"/>
                  </a:moveTo>
                  <a:lnTo>
                    <a:pt x="10000" y="520"/>
                  </a:lnTo>
                  <a:cubicBezTo>
                    <a:pt x="9998" y="523"/>
                    <a:pt x="9997" y="527"/>
                    <a:pt x="9995" y="530"/>
                  </a:cubicBezTo>
                  <a:cubicBezTo>
                    <a:pt x="9462" y="1897"/>
                    <a:pt x="9093" y="4849"/>
                    <a:pt x="8415" y="6141"/>
                  </a:cubicBezTo>
                  <a:cubicBezTo>
                    <a:pt x="7737" y="7433"/>
                    <a:pt x="6838" y="8623"/>
                    <a:pt x="5924" y="8285"/>
                  </a:cubicBezTo>
                  <a:cubicBezTo>
                    <a:pt x="5010" y="7947"/>
                    <a:pt x="3821" y="5328"/>
                    <a:pt x="2835" y="5612"/>
                  </a:cubicBezTo>
                  <a:cubicBezTo>
                    <a:pt x="1849" y="5896"/>
                    <a:pt x="723" y="8428"/>
                    <a:pt x="7" y="9987"/>
                  </a:cubicBezTo>
                  <a:cubicBezTo>
                    <a:pt x="5" y="9991"/>
                    <a:pt x="2" y="9996"/>
                    <a:pt x="0" y="10000"/>
                  </a:cubicBezTo>
                  <a:lnTo>
                    <a:pt x="0" y="3765"/>
                  </a:lnTo>
                  <a:cubicBezTo>
                    <a:pt x="2" y="3761"/>
                    <a:pt x="3" y="3756"/>
                    <a:pt x="5" y="3752"/>
                  </a:cubicBezTo>
                  <a:cubicBezTo>
                    <a:pt x="578" y="2395"/>
                    <a:pt x="1249" y="1330"/>
                    <a:pt x="2393" y="1529"/>
                  </a:cubicBezTo>
                  <a:cubicBezTo>
                    <a:pt x="3537" y="1728"/>
                    <a:pt x="5435" y="5452"/>
                    <a:pt x="6868" y="4948"/>
                  </a:cubicBezTo>
                  <a:cubicBezTo>
                    <a:pt x="8161" y="4573"/>
                    <a:pt x="9137" y="1239"/>
                    <a:pt x="9993" y="11"/>
                  </a:cubicBezTo>
                  <a:cubicBezTo>
                    <a:pt x="9995" y="7"/>
                    <a:pt x="9998" y="4"/>
                    <a:pt x="10000" y="0"/>
                  </a:cubicBezTo>
                  <a:close/>
                </a:path>
              </a:pathLst>
            </a:custGeom>
            <a:gradFill>
              <a:gsLst>
                <a:gs pos="50000">
                  <a:schemeClr val="bg1">
                    <a:alpha val="15000"/>
                  </a:schemeClr>
                </a:gs>
                <a:gs pos="0">
                  <a:schemeClr val="bg1">
                    <a:alpha val="22000"/>
                  </a:schemeClr>
                </a:gs>
                <a:gs pos="100000">
                  <a:schemeClr val="bg1">
                    <a:alpha val="17000"/>
                  </a:schemeClr>
                </a:gs>
              </a:gsLst>
              <a:lin ang="10800000" scaled="0"/>
            </a:gradFill>
            <a:ln>
              <a:solidFill>
                <a:schemeClr val="bg1">
                  <a:alpha val="42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883253" y="5875337"/>
              <a:ext cx="543739" cy="954107"/>
            </a:xfrm>
            <a:prstGeom prst="rect">
              <a:avLst/>
            </a:prstGeom>
            <a:noFill/>
            <a:scene3d>
              <a:camera prst="orthographicFront">
                <a:rot lat="0" lon="600002" rev="0"/>
              </a:camera>
              <a:lightRig rig="threePt" dir="t"/>
            </a:scene3d>
          </p:spPr>
          <p:txBody>
            <a:bodyPr wrap="none" rtlCol="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800" dirty="0">
                  <a:solidFill>
                    <a:srgbClr val="93876A">
                      <a:alpha val="44000"/>
                    </a:srgbClr>
                  </a:solidFill>
                  <a:latin typeface="方正甲骨文" panose="02000500000000000000" pitchFamily="2" charset="-122"/>
                  <a:ea typeface="方正甲骨文" panose="02000500000000000000" pitchFamily="2" charset="-122"/>
                  <a:sym typeface="+mn-ea"/>
                </a:rPr>
                <a:t>風</a:t>
              </a:r>
              <a:endParaRPr lang="en-US" altLang="zh-CN" sz="2800" dirty="0">
                <a:solidFill>
                  <a:srgbClr val="93876A">
                    <a:alpha val="44000"/>
                  </a:srgbClr>
                </a:solidFill>
                <a:latin typeface="方正甲骨文" panose="02000500000000000000" pitchFamily="2" charset="-122"/>
                <a:ea typeface="方正甲骨文" panose="02000500000000000000" pitchFamily="2" charset="-122"/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zh-CN" altLang="en-US" sz="2800" dirty="0">
                  <a:solidFill>
                    <a:srgbClr val="93876A">
                      <a:alpha val="44000"/>
                    </a:srgbClr>
                  </a:solidFill>
                  <a:latin typeface="方正甲骨文" panose="02000500000000000000" pitchFamily="2" charset="-122"/>
                  <a:ea typeface="方正甲骨文" panose="02000500000000000000" pitchFamily="2" charset="-122"/>
                  <a:sym typeface="+mn-ea"/>
                </a:rPr>
                <a:t>雪</a:t>
              </a:r>
              <a:endParaRPr lang="zh-CN" altLang="en-US" sz="2800" dirty="0">
                <a:solidFill>
                  <a:srgbClr val="93876A">
                    <a:alpha val="44000"/>
                  </a:srgbClr>
                </a:solidFill>
                <a:latin typeface="方正甲骨文" panose="02000500000000000000" pitchFamily="2" charset="-122"/>
                <a:ea typeface="方正甲骨文" panose="02000500000000000000" pitchFamily="2" charset="-122"/>
                <a:sym typeface="+mn-ea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491482" y="5931470"/>
              <a:ext cx="543739" cy="954107"/>
            </a:xfrm>
            <a:prstGeom prst="rect">
              <a:avLst/>
            </a:prstGeom>
            <a:noFill/>
            <a:scene3d>
              <a:camera prst="orthographicFront">
                <a:rot lat="0" lon="600002" rev="0"/>
              </a:camera>
              <a:lightRig rig="threePt" dir="t"/>
            </a:scene3d>
          </p:spPr>
          <p:txBody>
            <a:bodyPr wrap="none" rtlCol="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800" dirty="0">
                  <a:solidFill>
                    <a:srgbClr val="93876A">
                      <a:alpha val="44000"/>
                    </a:srgbClr>
                  </a:solidFill>
                  <a:latin typeface="方正甲骨文" panose="02000500000000000000" pitchFamily="2" charset="-122"/>
                  <a:ea typeface="方正甲骨文" panose="02000500000000000000" pitchFamily="2" charset="-122"/>
                  <a:sym typeface="+mn-ea"/>
                </a:rPr>
                <a:t>人</a:t>
              </a:r>
              <a:endParaRPr lang="en-US" altLang="zh-CN" sz="2800" dirty="0">
                <a:solidFill>
                  <a:srgbClr val="93876A">
                    <a:alpha val="44000"/>
                  </a:srgbClr>
                </a:solidFill>
                <a:latin typeface="方正甲骨文" panose="02000500000000000000" pitchFamily="2" charset="-122"/>
                <a:ea typeface="方正甲骨文" panose="02000500000000000000" pitchFamily="2" charset="-122"/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zh-CN" altLang="en-US" sz="2800" dirty="0">
                  <a:solidFill>
                    <a:srgbClr val="93876A">
                      <a:alpha val="44000"/>
                    </a:srgbClr>
                  </a:solidFill>
                  <a:latin typeface="方正甲骨文" panose="02000500000000000000" pitchFamily="2" charset="-122"/>
                  <a:ea typeface="方正甲骨文" panose="02000500000000000000" pitchFamily="2" charset="-122"/>
                  <a:sym typeface="+mn-ea"/>
                </a:rPr>
                <a:t>物</a:t>
              </a:r>
              <a:endParaRPr lang="zh-CN" altLang="en-US" sz="2800" dirty="0">
                <a:solidFill>
                  <a:srgbClr val="93876A">
                    <a:alpha val="44000"/>
                  </a:srgbClr>
                </a:solidFill>
                <a:latin typeface="方正甲骨文" panose="02000500000000000000" pitchFamily="2" charset="-122"/>
                <a:ea typeface="方正甲骨文" panose="02000500000000000000" pitchFamily="2" charset="-122"/>
                <a:sym typeface="+mn-ea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9065669" y="5747063"/>
              <a:ext cx="389850" cy="584775"/>
            </a:xfrm>
            <a:prstGeom prst="rect">
              <a:avLst/>
            </a:prstGeom>
            <a:noFill/>
            <a:scene3d>
              <a:camera prst="orthographicFront">
                <a:rot lat="0" lon="600002" rev="0"/>
              </a:camera>
              <a:lightRig rig="threePt" dir="t"/>
            </a:scene3d>
          </p:spPr>
          <p:txBody>
            <a:bodyPr wrap="none" rtlCol="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1600" dirty="0">
                  <a:solidFill>
                    <a:srgbClr val="93876A">
                      <a:alpha val="44000"/>
                    </a:srgbClr>
                  </a:solidFill>
                  <a:latin typeface="方正甲骨文" panose="02000500000000000000" pitchFamily="2" charset="-122"/>
                  <a:ea typeface="方正甲骨文" panose="02000500000000000000" pitchFamily="2" charset="-122"/>
                  <a:sym typeface="+mn-ea"/>
                </a:rPr>
                <a:t>中</a:t>
              </a:r>
              <a:endParaRPr lang="en-US" altLang="zh-CN" sz="1600" dirty="0">
                <a:solidFill>
                  <a:srgbClr val="93876A">
                    <a:alpha val="44000"/>
                  </a:srgbClr>
                </a:solidFill>
                <a:latin typeface="方正甲骨文" panose="02000500000000000000" pitchFamily="2" charset="-122"/>
                <a:ea typeface="方正甲骨文" panose="02000500000000000000" pitchFamily="2" charset="-122"/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zh-CN" altLang="en-US" sz="1600" dirty="0">
                  <a:solidFill>
                    <a:srgbClr val="93876A">
                      <a:alpha val="44000"/>
                    </a:srgbClr>
                  </a:solidFill>
                  <a:latin typeface="方正甲骨文" panose="02000500000000000000" pitchFamily="2" charset="-122"/>
                  <a:ea typeface="方正甲骨文" panose="02000500000000000000" pitchFamily="2" charset="-122"/>
                  <a:sym typeface="+mn-ea"/>
                </a:rPr>
                <a:t>國</a:t>
              </a:r>
              <a:endParaRPr lang="zh-CN" altLang="en-US" sz="1600" dirty="0">
                <a:solidFill>
                  <a:srgbClr val="93876A">
                    <a:alpha val="44000"/>
                  </a:srgbClr>
                </a:solidFill>
                <a:latin typeface="方正甲骨文" panose="02000500000000000000" pitchFamily="2" charset="-122"/>
                <a:ea typeface="方正甲骨文" panose="02000500000000000000" pitchFamily="2" charset="-122"/>
                <a:sym typeface="+mn-ea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0594269" y="5517176"/>
              <a:ext cx="389850" cy="584775"/>
            </a:xfrm>
            <a:prstGeom prst="rect">
              <a:avLst/>
            </a:prstGeom>
            <a:noFill/>
            <a:scene3d>
              <a:camera prst="orthographicFront">
                <a:rot lat="0" lon="600002" rev="0"/>
              </a:camera>
              <a:lightRig rig="threePt" dir="t"/>
            </a:scene3d>
          </p:spPr>
          <p:txBody>
            <a:bodyPr wrap="none" rtlCol="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1600" dirty="0">
                  <a:solidFill>
                    <a:srgbClr val="93876A">
                      <a:alpha val="44000"/>
                    </a:srgbClr>
                  </a:solidFill>
                  <a:latin typeface="方正甲骨文" panose="02000500000000000000" pitchFamily="2" charset="-122"/>
                  <a:ea typeface="方正甲骨文" panose="02000500000000000000" pitchFamily="2" charset="-122"/>
                  <a:sym typeface="+mn-ea"/>
                </a:rPr>
                <a:t>山</a:t>
              </a:r>
              <a:endParaRPr lang="en-US" altLang="zh-CN" sz="1600" dirty="0">
                <a:solidFill>
                  <a:srgbClr val="93876A">
                    <a:alpha val="44000"/>
                  </a:srgbClr>
                </a:solidFill>
                <a:latin typeface="方正甲骨文" panose="02000500000000000000" pitchFamily="2" charset="-122"/>
                <a:ea typeface="方正甲骨文" panose="02000500000000000000" pitchFamily="2" charset="-122"/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zh-CN" altLang="en-US" sz="1600" dirty="0">
                  <a:solidFill>
                    <a:srgbClr val="93876A">
                      <a:alpha val="44000"/>
                    </a:srgbClr>
                  </a:solidFill>
                  <a:latin typeface="方正甲骨文" panose="02000500000000000000" pitchFamily="2" charset="-122"/>
                  <a:ea typeface="方正甲骨文" panose="02000500000000000000" pitchFamily="2" charset="-122"/>
                  <a:sym typeface="+mn-ea"/>
                </a:rPr>
                <a:t>河</a:t>
              </a:r>
              <a:endParaRPr lang="zh-CN" altLang="en-US" sz="1600" dirty="0">
                <a:solidFill>
                  <a:srgbClr val="93876A">
                    <a:alpha val="44000"/>
                  </a:srgbClr>
                </a:solidFill>
                <a:latin typeface="方正甲骨文" panose="02000500000000000000" pitchFamily="2" charset="-122"/>
                <a:ea typeface="方正甲骨文" panose="02000500000000000000" pitchFamily="2" charset="-122"/>
                <a:sym typeface="+mn-ea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1.jpeg"/><Relationship Id="rId2" Type="http://schemas.openxmlformats.org/officeDocument/2006/relationships/tags" Target="../tags/tag2.xml"/><Relationship Id="rId19" Type="http://schemas.openxmlformats.org/officeDocument/2006/relationships/notesSlide" Target="../notesSlides/notesSlide1.xml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15.png"/><Relationship Id="rId16" Type="http://schemas.openxmlformats.org/officeDocument/2006/relationships/image" Target="../media/image14.png"/><Relationship Id="rId15" Type="http://schemas.openxmlformats.org/officeDocument/2006/relationships/image" Target="../media/image13.png"/><Relationship Id="rId14" Type="http://schemas.openxmlformats.org/officeDocument/2006/relationships/image" Target="../media/image12.png"/><Relationship Id="rId13" Type="http://schemas.openxmlformats.org/officeDocument/2006/relationships/image" Target="../media/image11.png"/><Relationship Id="rId12" Type="http://schemas.openxmlformats.org/officeDocument/2006/relationships/image" Target="../media/image10.png"/><Relationship Id="rId11" Type="http://schemas.openxmlformats.org/officeDocument/2006/relationships/image" Target="../media/image9.png"/><Relationship Id="rId10" Type="http://schemas.openxmlformats.org/officeDocument/2006/relationships/image" Target="../media/image8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21.png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jpeg"/><Relationship Id="rId22" Type="http://schemas.openxmlformats.org/officeDocument/2006/relationships/notesSlide" Target="../notesSlides/notesSlide2.x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22.png"/><Relationship Id="rId2" Type="http://schemas.openxmlformats.org/officeDocument/2006/relationships/tags" Target="../tags/tag4.xml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: 圆角 25"/>
          <p:cNvSpPr/>
          <p:nvPr/>
        </p:nvSpPr>
        <p:spPr>
          <a:xfrm>
            <a:off x="2065025" y="265013"/>
            <a:ext cx="1152000" cy="360000"/>
          </a:xfrm>
          <a:prstGeom prst="roundRect">
            <a:avLst/>
          </a:prstGeom>
          <a:gradFill flip="none" rotWithShape="1">
            <a:gsLst>
              <a:gs pos="98000">
                <a:srgbClr val="36907E"/>
              </a:gs>
              <a:gs pos="16000">
                <a:srgbClr val="ABDACB">
                  <a:lumMod val="72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项目概述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683035" y="265013"/>
            <a:ext cx="1152000" cy="360000"/>
          </a:xfrm>
          <a:prstGeom prst="roundRect">
            <a:avLst/>
          </a:prstGeom>
          <a:gradFill flip="none" rotWithShape="1">
            <a:gsLst>
              <a:gs pos="98000">
                <a:srgbClr val="36907E"/>
              </a:gs>
              <a:gs pos="16000">
                <a:srgbClr val="ABDACB">
                  <a:lumMod val="72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项目背景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3447015" y="265013"/>
            <a:ext cx="1152000" cy="360000"/>
          </a:xfrm>
          <a:prstGeom prst="roundRect">
            <a:avLst/>
          </a:prstGeom>
          <a:gradFill flip="none" rotWithShape="1">
            <a:gsLst>
              <a:gs pos="78000">
                <a:schemeClr val="bg1"/>
              </a:gs>
              <a:gs pos="29000">
                <a:schemeClr val="bg1">
                  <a:alpha val="100000"/>
                </a:schemeClr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427D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27D7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项目优势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427D7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29" name="矩形: 圆角 6"/>
          <p:cNvSpPr/>
          <p:nvPr/>
        </p:nvSpPr>
        <p:spPr>
          <a:xfrm>
            <a:off x="4829005" y="265013"/>
            <a:ext cx="1152000" cy="360000"/>
          </a:xfrm>
          <a:prstGeom prst="roundRect">
            <a:avLst/>
          </a:prstGeom>
          <a:gradFill flip="none" rotWithShape="1">
            <a:gsLst>
              <a:gs pos="98000">
                <a:srgbClr val="36907E"/>
              </a:gs>
              <a:gs pos="16000">
                <a:srgbClr val="ABDACB">
                  <a:lumMod val="72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项目应用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30" name="矩形: 圆角 6"/>
          <p:cNvSpPr/>
          <p:nvPr/>
        </p:nvSpPr>
        <p:spPr>
          <a:xfrm>
            <a:off x="6210995" y="265013"/>
            <a:ext cx="1152000" cy="360000"/>
          </a:xfrm>
          <a:prstGeom prst="roundRect">
            <a:avLst/>
          </a:prstGeom>
          <a:gradFill flip="none" rotWithShape="1">
            <a:gsLst>
              <a:gs pos="98000">
                <a:srgbClr val="36907E"/>
              </a:gs>
              <a:gs pos="16000">
                <a:srgbClr val="ABDACB">
                  <a:lumMod val="72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社会价值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31" name="矩形: 圆角 6"/>
          <p:cNvSpPr/>
          <p:nvPr/>
        </p:nvSpPr>
        <p:spPr>
          <a:xfrm>
            <a:off x="7592985" y="265013"/>
            <a:ext cx="1152000" cy="360000"/>
          </a:xfrm>
          <a:prstGeom prst="roundRect">
            <a:avLst/>
          </a:prstGeom>
          <a:gradFill flip="none" rotWithShape="1">
            <a:gsLst>
              <a:gs pos="98000">
                <a:srgbClr val="36907E"/>
              </a:gs>
              <a:gs pos="16000">
                <a:srgbClr val="ABDACB">
                  <a:lumMod val="72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商业模式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32" name="矩形: 圆角 6"/>
          <p:cNvSpPr/>
          <p:nvPr/>
        </p:nvSpPr>
        <p:spPr>
          <a:xfrm>
            <a:off x="8974975" y="265013"/>
            <a:ext cx="1152000" cy="360000"/>
          </a:xfrm>
          <a:prstGeom prst="roundRect">
            <a:avLst/>
          </a:prstGeom>
          <a:gradFill flip="none" rotWithShape="1">
            <a:gsLst>
              <a:gs pos="98000">
                <a:srgbClr val="36907E"/>
              </a:gs>
              <a:gs pos="16000">
                <a:srgbClr val="ABDACB">
                  <a:lumMod val="72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团队介绍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10356966" y="265013"/>
            <a:ext cx="1152000" cy="360000"/>
          </a:xfrm>
          <a:prstGeom prst="roundRect">
            <a:avLst/>
          </a:prstGeom>
          <a:gradFill flip="none" rotWithShape="1">
            <a:gsLst>
              <a:gs pos="98000">
                <a:srgbClr val="36907E"/>
              </a:gs>
              <a:gs pos="16000">
                <a:srgbClr val="ABDACB">
                  <a:lumMod val="72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未来展望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8430895" y="748665"/>
            <a:ext cx="3745865" cy="4278630"/>
            <a:chOff x="241113" y="1689270"/>
            <a:chExt cx="3796788" cy="4470401"/>
          </a:xfrm>
        </p:grpSpPr>
        <p:grpSp>
          <p:nvGrpSpPr>
            <p:cNvPr id="11" name="组合 10"/>
            <p:cNvGrpSpPr/>
            <p:nvPr/>
          </p:nvGrpSpPr>
          <p:grpSpPr>
            <a:xfrm>
              <a:off x="241113" y="1689270"/>
              <a:ext cx="3796788" cy="4470401"/>
              <a:chOff x="473762" y="1513205"/>
              <a:chExt cx="3796788" cy="4470401"/>
            </a:xfrm>
          </p:grpSpPr>
          <p:sp>
            <p:nvSpPr>
              <p:cNvPr id="19" name="矩形: 圆角 18"/>
              <p:cNvSpPr/>
              <p:nvPr/>
            </p:nvSpPr>
            <p:spPr>
              <a:xfrm>
                <a:off x="613841" y="1513205"/>
                <a:ext cx="3516630" cy="4423070"/>
              </a:xfrm>
              <a:prstGeom prst="roundRect">
                <a:avLst>
                  <a:gd name="adj" fmla="val 2429"/>
                </a:avLst>
              </a:prstGeom>
              <a:gradFill flip="none" rotWithShape="1">
                <a:gsLst>
                  <a:gs pos="98000">
                    <a:srgbClr val="36907E"/>
                  </a:gs>
                  <a:gs pos="16000">
                    <a:srgbClr val="ABDACB">
                      <a:lumMod val="72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grpSp>
            <p:nvGrpSpPr>
              <p:cNvPr id="20" name="组合 19"/>
              <p:cNvGrpSpPr/>
              <p:nvPr/>
            </p:nvGrpSpPr>
            <p:grpSpPr>
              <a:xfrm>
                <a:off x="1049134" y="1595120"/>
                <a:ext cx="2646045" cy="1510030"/>
                <a:chOff x="7719" y="-1149"/>
                <a:chExt cx="4167" cy="2378"/>
              </a:xfrm>
            </p:grpSpPr>
            <p:sp>
              <p:nvSpPr>
                <p:cNvPr id="24" name="椭圆 5" descr="D:\51PPT模板网\51pptmoban.com\图片.jpg"/>
                <p:cNvSpPr/>
                <p:nvPr>
                  <p:custDataLst>
                    <p:tags r:id="rId1"/>
                  </p:custDataLst>
                </p:nvPr>
              </p:nvSpPr>
              <p:spPr>
                <a:xfrm>
                  <a:off x="7719" y="-1016"/>
                  <a:ext cx="777" cy="777"/>
                </a:xfrm>
                <a:custGeom>
                  <a:avLst/>
                  <a:gdLst>
                    <a:gd name="connsiteX0" fmla="*/ 157638 w 338138"/>
                    <a:gd name="connsiteY0" fmla="*/ 144463 h 338138"/>
                    <a:gd name="connsiteX1" fmla="*/ 165544 w 338138"/>
                    <a:gd name="connsiteY1" fmla="*/ 148443 h 338138"/>
                    <a:gd name="connsiteX2" fmla="*/ 249865 w 338138"/>
                    <a:gd name="connsiteY2" fmla="*/ 233341 h 338138"/>
                    <a:gd name="connsiteX3" fmla="*/ 280167 w 338138"/>
                    <a:gd name="connsiteY3" fmla="*/ 232015 h 338138"/>
                    <a:gd name="connsiteX4" fmla="*/ 286755 w 338138"/>
                    <a:gd name="connsiteY4" fmla="*/ 234668 h 338138"/>
                    <a:gd name="connsiteX5" fmla="*/ 335503 w 338138"/>
                    <a:gd name="connsiteY5" fmla="*/ 283750 h 338138"/>
                    <a:gd name="connsiteX6" fmla="*/ 338138 w 338138"/>
                    <a:gd name="connsiteY6" fmla="*/ 293036 h 338138"/>
                    <a:gd name="connsiteX7" fmla="*/ 330233 w 338138"/>
                    <a:gd name="connsiteY7" fmla="*/ 298342 h 338138"/>
                    <a:gd name="connsiteX8" fmla="*/ 311788 w 338138"/>
                    <a:gd name="connsiteY8" fmla="*/ 303648 h 338138"/>
                    <a:gd name="connsiteX9" fmla="*/ 303883 w 338138"/>
                    <a:gd name="connsiteY9" fmla="*/ 310281 h 338138"/>
                    <a:gd name="connsiteX10" fmla="*/ 299930 w 338138"/>
                    <a:gd name="connsiteY10" fmla="*/ 331505 h 338138"/>
                    <a:gd name="connsiteX11" fmla="*/ 293343 w 338138"/>
                    <a:gd name="connsiteY11" fmla="*/ 338138 h 338138"/>
                    <a:gd name="connsiteX12" fmla="*/ 290708 w 338138"/>
                    <a:gd name="connsiteY12" fmla="*/ 338138 h 338138"/>
                    <a:gd name="connsiteX13" fmla="*/ 284120 w 338138"/>
                    <a:gd name="connsiteY13" fmla="*/ 335485 h 338138"/>
                    <a:gd name="connsiteX14" fmla="*/ 235372 w 338138"/>
                    <a:gd name="connsiteY14" fmla="*/ 286403 h 338138"/>
                    <a:gd name="connsiteX15" fmla="*/ 232737 w 338138"/>
                    <a:gd name="connsiteY15" fmla="*/ 279770 h 338138"/>
                    <a:gd name="connsiteX16" fmla="*/ 234054 w 338138"/>
                    <a:gd name="connsiteY16" fmla="*/ 249260 h 338138"/>
                    <a:gd name="connsiteX17" fmla="*/ 149733 w 338138"/>
                    <a:gd name="connsiteY17" fmla="*/ 164361 h 338138"/>
                    <a:gd name="connsiteX18" fmla="*/ 149733 w 338138"/>
                    <a:gd name="connsiteY18" fmla="*/ 148443 h 338138"/>
                    <a:gd name="connsiteX19" fmla="*/ 157638 w 338138"/>
                    <a:gd name="connsiteY19" fmla="*/ 144463 h 338138"/>
                    <a:gd name="connsiteX20" fmla="*/ 145922 w 338138"/>
                    <a:gd name="connsiteY20" fmla="*/ 120650 h 338138"/>
                    <a:gd name="connsiteX21" fmla="*/ 169863 w 338138"/>
                    <a:gd name="connsiteY21" fmla="*/ 137383 h 338138"/>
                    <a:gd name="connsiteX22" fmla="*/ 157893 w 338138"/>
                    <a:gd name="connsiteY22" fmla="*/ 133522 h 338138"/>
                    <a:gd name="connsiteX23" fmla="*/ 141931 w 338138"/>
                    <a:gd name="connsiteY23" fmla="*/ 141245 h 338138"/>
                    <a:gd name="connsiteX24" fmla="*/ 137941 w 338138"/>
                    <a:gd name="connsiteY24" fmla="*/ 168275 h 338138"/>
                    <a:gd name="connsiteX25" fmla="*/ 120650 w 338138"/>
                    <a:gd name="connsiteY25" fmla="*/ 145106 h 338138"/>
                    <a:gd name="connsiteX26" fmla="*/ 145922 w 338138"/>
                    <a:gd name="connsiteY26" fmla="*/ 120650 h 338138"/>
                    <a:gd name="connsiteX27" fmla="*/ 146051 w 338138"/>
                    <a:gd name="connsiteY27" fmla="*/ 60325 h 338138"/>
                    <a:gd name="connsiteX28" fmla="*/ 230188 w 338138"/>
                    <a:gd name="connsiteY28" fmla="*/ 145257 h 338138"/>
                    <a:gd name="connsiteX29" fmla="*/ 219671 w 338138"/>
                    <a:gd name="connsiteY29" fmla="*/ 186395 h 338138"/>
                    <a:gd name="connsiteX30" fmla="*/ 193378 w 338138"/>
                    <a:gd name="connsiteY30" fmla="*/ 161181 h 338138"/>
                    <a:gd name="connsiteX31" fmla="*/ 196007 w 338138"/>
                    <a:gd name="connsiteY31" fmla="*/ 145257 h 338138"/>
                    <a:gd name="connsiteX32" fmla="*/ 146051 w 338138"/>
                    <a:gd name="connsiteY32" fmla="*/ 94828 h 338138"/>
                    <a:gd name="connsiteX33" fmla="*/ 96094 w 338138"/>
                    <a:gd name="connsiteY33" fmla="*/ 145257 h 338138"/>
                    <a:gd name="connsiteX34" fmla="*/ 146051 w 338138"/>
                    <a:gd name="connsiteY34" fmla="*/ 195685 h 338138"/>
                    <a:gd name="connsiteX35" fmla="*/ 161827 w 338138"/>
                    <a:gd name="connsiteY35" fmla="*/ 193031 h 338138"/>
                    <a:gd name="connsiteX36" fmla="*/ 188119 w 338138"/>
                    <a:gd name="connsiteY36" fmla="*/ 219572 h 338138"/>
                    <a:gd name="connsiteX37" fmla="*/ 146051 w 338138"/>
                    <a:gd name="connsiteY37" fmla="*/ 230188 h 338138"/>
                    <a:gd name="connsiteX38" fmla="*/ 61913 w 338138"/>
                    <a:gd name="connsiteY38" fmla="*/ 145257 h 338138"/>
                    <a:gd name="connsiteX39" fmla="*/ 146051 w 338138"/>
                    <a:gd name="connsiteY39" fmla="*/ 60325 h 338138"/>
                    <a:gd name="connsiteX40" fmla="*/ 145257 w 338138"/>
                    <a:gd name="connsiteY40" fmla="*/ 0 h 338138"/>
                    <a:gd name="connsiteX41" fmla="*/ 290513 w 338138"/>
                    <a:gd name="connsiteY41" fmla="*/ 145257 h 338138"/>
                    <a:gd name="connsiteX42" fmla="*/ 269385 w 338138"/>
                    <a:gd name="connsiteY42" fmla="*/ 221846 h 338138"/>
                    <a:gd name="connsiteX43" fmla="*/ 254859 w 338138"/>
                    <a:gd name="connsiteY43" fmla="*/ 221846 h 338138"/>
                    <a:gd name="connsiteX44" fmla="*/ 239013 w 338138"/>
                    <a:gd name="connsiteY44" fmla="*/ 206000 h 338138"/>
                    <a:gd name="connsiteX45" fmla="*/ 256180 w 338138"/>
                    <a:gd name="connsiteY45" fmla="*/ 145257 h 338138"/>
                    <a:gd name="connsiteX46" fmla="*/ 145257 w 338138"/>
                    <a:gd name="connsiteY46" fmla="*/ 34333 h 338138"/>
                    <a:gd name="connsiteX47" fmla="*/ 34333 w 338138"/>
                    <a:gd name="connsiteY47" fmla="*/ 145257 h 338138"/>
                    <a:gd name="connsiteX48" fmla="*/ 145257 w 338138"/>
                    <a:gd name="connsiteY48" fmla="*/ 256180 h 338138"/>
                    <a:gd name="connsiteX49" fmla="*/ 206000 w 338138"/>
                    <a:gd name="connsiteY49" fmla="*/ 239013 h 338138"/>
                    <a:gd name="connsiteX50" fmla="*/ 221847 w 338138"/>
                    <a:gd name="connsiteY50" fmla="*/ 254859 h 338138"/>
                    <a:gd name="connsiteX51" fmla="*/ 221847 w 338138"/>
                    <a:gd name="connsiteY51" fmla="*/ 269385 h 338138"/>
                    <a:gd name="connsiteX52" fmla="*/ 145257 w 338138"/>
                    <a:gd name="connsiteY52" fmla="*/ 290513 h 338138"/>
                    <a:gd name="connsiteX53" fmla="*/ 0 w 338138"/>
                    <a:gd name="connsiteY53" fmla="*/ 145257 h 338138"/>
                    <a:gd name="connsiteX54" fmla="*/ 145257 w 338138"/>
                    <a:gd name="connsiteY54" fmla="*/ 0 h 3381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</a:cxnLst>
                  <a:rect l="l" t="t" r="r" b="b"/>
                  <a:pathLst>
                    <a:path w="338138" h="338138">
                      <a:moveTo>
                        <a:pt x="157638" y="144463"/>
                      </a:moveTo>
                      <a:cubicBezTo>
                        <a:pt x="160273" y="144463"/>
                        <a:pt x="162908" y="145790"/>
                        <a:pt x="165544" y="148443"/>
                      </a:cubicBezTo>
                      <a:cubicBezTo>
                        <a:pt x="165544" y="148443"/>
                        <a:pt x="165544" y="148443"/>
                        <a:pt x="249865" y="233341"/>
                      </a:cubicBezTo>
                      <a:cubicBezTo>
                        <a:pt x="249865" y="233341"/>
                        <a:pt x="249865" y="233341"/>
                        <a:pt x="280167" y="232015"/>
                      </a:cubicBezTo>
                      <a:cubicBezTo>
                        <a:pt x="282803" y="232015"/>
                        <a:pt x="285438" y="233341"/>
                        <a:pt x="286755" y="234668"/>
                      </a:cubicBezTo>
                      <a:cubicBezTo>
                        <a:pt x="286755" y="234668"/>
                        <a:pt x="286755" y="234668"/>
                        <a:pt x="335503" y="283750"/>
                      </a:cubicBezTo>
                      <a:cubicBezTo>
                        <a:pt x="338138" y="286403"/>
                        <a:pt x="338138" y="289056"/>
                        <a:pt x="338138" y="293036"/>
                      </a:cubicBezTo>
                      <a:cubicBezTo>
                        <a:pt x="336821" y="295689"/>
                        <a:pt x="334186" y="298342"/>
                        <a:pt x="330233" y="298342"/>
                      </a:cubicBezTo>
                      <a:cubicBezTo>
                        <a:pt x="330233" y="298342"/>
                        <a:pt x="330233" y="298342"/>
                        <a:pt x="311788" y="303648"/>
                      </a:cubicBezTo>
                      <a:cubicBezTo>
                        <a:pt x="307835" y="303648"/>
                        <a:pt x="305200" y="306301"/>
                        <a:pt x="303883" y="310281"/>
                      </a:cubicBezTo>
                      <a:cubicBezTo>
                        <a:pt x="303883" y="310281"/>
                        <a:pt x="303883" y="310281"/>
                        <a:pt x="299930" y="331505"/>
                      </a:cubicBezTo>
                      <a:cubicBezTo>
                        <a:pt x="298613" y="334158"/>
                        <a:pt x="295978" y="336812"/>
                        <a:pt x="293343" y="338138"/>
                      </a:cubicBezTo>
                      <a:cubicBezTo>
                        <a:pt x="292025" y="338138"/>
                        <a:pt x="292025" y="338138"/>
                        <a:pt x="290708" y="338138"/>
                      </a:cubicBezTo>
                      <a:cubicBezTo>
                        <a:pt x="288073" y="338138"/>
                        <a:pt x="285438" y="336812"/>
                        <a:pt x="284120" y="335485"/>
                      </a:cubicBezTo>
                      <a:cubicBezTo>
                        <a:pt x="284120" y="335485"/>
                        <a:pt x="284120" y="335485"/>
                        <a:pt x="235372" y="286403"/>
                      </a:cubicBezTo>
                      <a:cubicBezTo>
                        <a:pt x="232737" y="283750"/>
                        <a:pt x="232737" y="281097"/>
                        <a:pt x="232737" y="279770"/>
                      </a:cubicBezTo>
                      <a:cubicBezTo>
                        <a:pt x="232737" y="279770"/>
                        <a:pt x="232737" y="279770"/>
                        <a:pt x="234054" y="249260"/>
                      </a:cubicBezTo>
                      <a:cubicBezTo>
                        <a:pt x="234054" y="249260"/>
                        <a:pt x="234054" y="249260"/>
                        <a:pt x="149733" y="164361"/>
                      </a:cubicBezTo>
                      <a:cubicBezTo>
                        <a:pt x="144463" y="159055"/>
                        <a:pt x="144463" y="152422"/>
                        <a:pt x="149733" y="148443"/>
                      </a:cubicBezTo>
                      <a:cubicBezTo>
                        <a:pt x="151051" y="145790"/>
                        <a:pt x="155003" y="144463"/>
                        <a:pt x="157638" y="144463"/>
                      </a:cubicBezTo>
                      <a:close/>
                      <a:moveTo>
                        <a:pt x="145922" y="120650"/>
                      </a:moveTo>
                      <a:cubicBezTo>
                        <a:pt x="157893" y="120650"/>
                        <a:pt x="167203" y="128373"/>
                        <a:pt x="169863" y="137383"/>
                      </a:cubicBezTo>
                      <a:cubicBezTo>
                        <a:pt x="167203" y="134809"/>
                        <a:pt x="161883" y="133522"/>
                        <a:pt x="157893" y="133522"/>
                      </a:cubicBezTo>
                      <a:cubicBezTo>
                        <a:pt x="151242" y="133522"/>
                        <a:pt x="145922" y="136096"/>
                        <a:pt x="141931" y="141245"/>
                      </a:cubicBezTo>
                      <a:cubicBezTo>
                        <a:pt x="133951" y="147680"/>
                        <a:pt x="132620" y="160552"/>
                        <a:pt x="137941" y="168275"/>
                      </a:cubicBezTo>
                      <a:cubicBezTo>
                        <a:pt x="128630" y="165701"/>
                        <a:pt x="120650" y="156691"/>
                        <a:pt x="120650" y="145106"/>
                      </a:cubicBezTo>
                      <a:cubicBezTo>
                        <a:pt x="120650" y="132234"/>
                        <a:pt x="132620" y="120650"/>
                        <a:pt x="145922" y="120650"/>
                      </a:cubicBezTo>
                      <a:close/>
                      <a:moveTo>
                        <a:pt x="146051" y="60325"/>
                      </a:moveTo>
                      <a:cubicBezTo>
                        <a:pt x="192063" y="60325"/>
                        <a:pt x="230188" y="98810"/>
                        <a:pt x="230188" y="145257"/>
                      </a:cubicBezTo>
                      <a:cubicBezTo>
                        <a:pt x="230188" y="159854"/>
                        <a:pt x="226244" y="174452"/>
                        <a:pt x="219671" y="186395"/>
                      </a:cubicBezTo>
                      <a:lnTo>
                        <a:pt x="193378" y="161181"/>
                      </a:lnTo>
                      <a:cubicBezTo>
                        <a:pt x="196007" y="155873"/>
                        <a:pt x="196007" y="150565"/>
                        <a:pt x="196007" y="145257"/>
                      </a:cubicBezTo>
                      <a:cubicBezTo>
                        <a:pt x="196007" y="117388"/>
                        <a:pt x="173658" y="94828"/>
                        <a:pt x="146051" y="94828"/>
                      </a:cubicBezTo>
                      <a:cubicBezTo>
                        <a:pt x="118443" y="94828"/>
                        <a:pt x="96094" y="117388"/>
                        <a:pt x="96094" y="145257"/>
                      </a:cubicBezTo>
                      <a:cubicBezTo>
                        <a:pt x="96094" y="173125"/>
                        <a:pt x="118443" y="195685"/>
                        <a:pt x="146051" y="195685"/>
                      </a:cubicBezTo>
                      <a:cubicBezTo>
                        <a:pt x="151309" y="195685"/>
                        <a:pt x="156568" y="194358"/>
                        <a:pt x="161827" y="193031"/>
                      </a:cubicBezTo>
                      <a:cubicBezTo>
                        <a:pt x="161827" y="193031"/>
                        <a:pt x="161827" y="193031"/>
                        <a:pt x="188119" y="219572"/>
                      </a:cubicBezTo>
                      <a:cubicBezTo>
                        <a:pt x="174973" y="226207"/>
                        <a:pt x="161827" y="230188"/>
                        <a:pt x="146051" y="230188"/>
                      </a:cubicBezTo>
                      <a:cubicBezTo>
                        <a:pt x="100038" y="230188"/>
                        <a:pt x="61913" y="191703"/>
                        <a:pt x="61913" y="145257"/>
                      </a:cubicBezTo>
                      <a:cubicBezTo>
                        <a:pt x="61913" y="98810"/>
                        <a:pt x="100038" y="60325"/>
                        <a:pt x="146051" y="60325"/>
                      </a:cubicBezTo>
                      <a:close/>
                      <a:moveTo>
                        <a:pt x="145257" y="0"/>
                      </a:moveTo>
                      <a:cubicBezTo>
                        <a:pt x="225808" y="0"/>
                        <a:pt x="290513" y="64705"/>
                        <a:pt x="290513" y="145257"/>
                      </a:cubicBezTo>
                      <a:cubicBezTo>
                        <a:pt x="290513" y="172987"/>
                        <a:pt x="282590" y="199398"/>
                        <a:pt x="269385" y="221846"/>
                      </a:cubicBezTo>
                      <a:cubicBezTo>
                        <a:pt x="269385" y="221846"/>
                        <a:pt x="269385" y="221846"/>
                        <a:pt x="254859" y="221846"/>
                      </a:cubicBezTo>
                      <a:cubicBezTo>
                        <a:pt x="254859" y="221846"/>
                        <a:pt x="254859" y="221846"/>
                        <a:pt x="239013" y="206000"/>
                      </a:cubicBezTo>
                      <a:cubicBezTo>
                        <a:pt x="249577" y="188833"/>
                        <a:pt x="256180" y="167705"/>
                        <a:pt x="256180" y="145257"/>
                      </a:cubicBezTo>
                      <a:cubicBezTo>
                        <a:pt x="256180" y="84513"/>
                        <a:pt x="207321" y="34333"/>
                        <a:pt x="145257" y="34333"/>
                      </a:cubicBezTo>
                      <a:cubicBezTo>
                        <a:pt x="84513" y="34333"/>
                        <a:pt x="34333" y="84513"/>
                        <a:pt x="34333" y="145257"/>
                      </a:cubicBezTo>
                      <a:cubicBezTo>
                        <a:pt x="34333" y="207321"/>
                        <a:pt x="84513" y="256180"/>
                        <a:pt x="145257" y="256180"/>
                      </a:cubicBezTo>
                      <a:cubicBezTo>
                        <a:pt x="167705" y="256180"/>
                        <a:pt x="188834" y="249577"/>
                        <a:pt x="206000" y="239013"/>
                      </a:cubicBezTo>
                      <a:cubicBezTo>
                        <a:pt x="206000" y="239013"/>
                        <a:pt x="206000" y="239013"/>
                        <a:pt x="221847" y="254859"/>
                      </a:cubicBezTo>
                      <a:cubicBezTo>
                        <a:pt x="221847" y="254859"/>
                        <a:pt x="221847" y="254859"/>
                        <a:pt x="221847" y="269385"/>
                      </a:cubicBezTo>
                      <a:cubicBezTo>
                        <a:pt x="199398" y="282590"/>
                        <a:pt x="172988" y="290513"/>
                        <a:pt x="145257" y="290513"/>
                      </a:cubicBezTo>
                      <a:cubicBezTo>
                        <a:pt x="64705" y="290513"/>
                        <a:pt x="0" y="225808"/>
                        <a:pt x="0" y="145257"/>
                      </a:cubicBezTo>
                      <a:cubicBezTo>
                        <a:pt x="0" y="64705"/>
                        <a:pt x="64705" y="0"/>
                        <a:pt x="14525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solidFill>
                        <a:prstClr val="white"/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  <a:sym typeface="+mn-ea"/>
                  </a:endParaRPr>
                </a:p>
              </p:txBody>
            </p:sp>
            <p:sp>
              <p:nvSpPr>
                <p:cNvPr id="25" name="文本框 24"/>
                <p:cNvSpPr txBox="1"/>
                <p:nvPr>
                  <p:custDataLst>
                    <p:tags r:id="rId2"/>
                  </p:custDataLst>
                </p:nvPr>
              </p:nvSpPr>
              <p:spPr>
                <a:xfrm>
                  <a:off x="8695" y="-1149"/>
                  <a:ext cx="3191" cy="23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1600" b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HarmonyOS Sans SC Light" panose="00000400000000000000" pitchFamily="2" charset="-122"/>
                      <a:ea typeface="阿里巴巴普惠体 2.0 55 Regular" panose="00020600040101010101" pitchFamily="18" charset="-122"/>
                      <a:cs typeface="阿里巴巴普惠体 2.0 55 Regular" panose="00020600040101010101" pitchFamily="18" charset="-122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4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阿里妈妈数黑体" pitchFamily="2" charset="-122"/>
                      <a:ea typeface="阿里妈妈数黑体" pitchFamily="2" charset="-122"/>
                      <a:cs typeface="+mn-cs"/>
                      <a:sym typeface="HarmonyOS Sans SC Light" panose="00000400000000000000" pitchFamily="2" charset="-122"/>
                    </a:rPr>
                    <a:t>作品著作</a:t>
                  </a:r>
                  <a:endParaRPr kumimoji="0" lang="zh-CN" altLang="en-US" sz="4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阿里妈妈数黑体" pitchFamily="2" charset="-122"/>
                    <a:ea typeface="阿里妈妈数黑体" pitchFamily="2" charset="-122"/>
                    <a:cs typeface="+mn-cs"/>
                    <a:sym typeface="HarmonyOS Sans SC Light" panose="00000400000000000000" pitchFamily="2" charset="-122"/>
                  </a:endParaRPr>
                </a:p>
              </p:txBody>
            </p:sp>
          </p:grpSp>
          <p:sp>
            <p:nvSpPr>
              <p:cNvPr id="21" name="缺角矩形 20"/>
              <p:cNvSpPr/>
              <p:nvPr/>
            </p:nvSpPr>
            <p:spPr>
              <a:xfrm>
                <a:off x="473762" y="3191560"/>
                <a:ext cx="3796788" cy="2792046"/>
              </a:xfrm>
              <a:prstGeom prst="plaque">
                <a:avLst>
                  <a:gd name="adj" fmla="val 3473"/>
                </a:avLst>
              </a:prstGeom>
              <a:gradFill>
                <a:gsLst>
                  <a:gs pos="0">
                    <a:schemeClr val="bg1"/>
                  </a:gs>
                  <a:gs pos="100000">
                    <a:srgbClr val="C7E7E5">
                      <a:lumMod val="38000"/>
                      <a:lumOff val="62000"/>
                    </a:srgbClr>
                  </a:gs>
                </a:gsLst>
                <a:lin ang="5400000" scaled="1"/>
              </a:gradFill>
              <a:ln>
                <a:solidFill>
                  <a:srgbClr val="C7E7E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939580" y="2407523"/>
                <a:ext cx="2865151" cy="1638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原创</a:t>
                </a:r>
                <a:r>
                  <a:rPr lang="en-US" altLang="zh-CN" sz="2400" b="1" dirty="0">
                    <a:gradFill>
                      <a:gsLst>
                        <a:gs pos="0">
                          <a:prstClr val="white"/>
                        </a:gs>
                        <a:gs pos="100000">
                          <a:srgbClr val="FFC000"/>
                        </a:gs>
                      </a:gsLst>
                      <a:lin ang="5400000" scaled="1"/>
                    </a:gra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21</a:t>
                </a:r>
                <a:r>
                  <a:rPr lang="zh-CN" altLang="en-US" sz="2400" b="1" dirty="0">
                    <a:gradFill>
                      <a:gsLst>
                        <a:gs pos="0">
                          <a:prstClr val="white"/>
                        </a:gs>
                        <a:gs pos="100000">
                          <a:srgbClr val="FFC000"/>
                        </a:gs>
                      </a:gsLst>
                      <a:lin ang="5400000" scaled="1"/>
                    </a:gra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部字源情境动画</a:t>
                </a:r>
                <a:endParaRPr lang="en-US" altLang="zh-CN" sz="2400" b="1" dirty="0">
                  <a:gradFill>
                    <a:gsLst>
                      <a:gs pos="0">
                        <a:prstClr val="white"/>
                      </a:gs>
                      <a:gs pos="100000">
                        <a:srgbClr val="FFC000"/>
                      </a:gs>
                    </a:gsLst>
                    <a:lin ang="5400000" scaled="1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申请</a:t>
                </a:r>
                <a:r>
                  <a:rPr lang="en-US" altLang="zh-CN" sz="2400" b="1" dirty="0">
                    <a:gradFill>
                      <a:gsLst>
                        <a:gs pos="0">
                          <a:prstClr val="white"/>
                        </a:gs>
                        <a:gs pos="100000">
                          <a:srgbClr val="FFC000"/>
                        </a:gs>
                      </a:gsLst>
                      <a:lin ang="5400000" scaled="1"/>
                    </a:gra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1</a:t>
                </a:r>
                <a:r>
                  <a:rPr lang="zh-CN" altLang="en-US" sz="2400" b="1" dirty="0">
                    <a:gradFill>
                      <a:gsLst>
                        <a:gs pos="0">
                          <a:prstClr val="white"/>
                        </a:gs>
                        <a:gs pos="100000">
                          <a:srgbClr val="FFC000"/>
                        </a:gs>
                      </a:gsLst>
                      <a:lin ang="5400000" scaled="1"/>
                    </a:gra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项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代表性作品著作权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pic>
            <p:nvPicPr>
              <p:cNvPr id="23" name="图片 22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55" r="455"/>
              <a:stretch>
                <a:fillRect/>
              </a:stretch>
            </p:blipFill>
            <p:spPr>
              <a:xfrm>
                <a:off x="637068" y="3291221"/>
                <a:ext cx="3470179" cy="2602633"/>
              </a:xfrm>
              <a:prstGeom prst="rect">
                <a:avLst/>
              </a:prstGeom>
              <a:ln w="19050">
                <a:solidFill>
                  <a:schemeClr val="bg1"/>
                </a:solidFill>
              </a:ln>
              <a:effectLst>
                <a:outerShdw blurRad="50800" dist="38100" dir="2700000" algn="tl" rotWithShape="0">
                  <a:srgbClr val="439F98">
                    <a:alpha val="40000"/>
                  </a:srgbClr>
                </a:outerShdw>
              </a:effectLst>
            </p:spPr>
          </p:pic>
        </p:grpSp>
        <p:cxnSp>
          <p:nvCxnSpPr>
            <p:cNvPr id="18" name="直接连接符 17"/>
            <p:cNvCxnSpPr/>
            <p:nvPr/>
          </p:nvCxnSpPr>
          <p:spPr>
            <a:xfrm flipH="1">
              <a:off x="897528" y="2446470"/>
              <a:ext cx="2872195" cy="0"/>
            </a:xfrm>
            <a:prstGeom prst="line">
              <a:avLst/>
            </a:prstGeom>
            <a:ln w="19050" cap="rnd">
              <a:solidFill>
                <a:srgbClr val="427D7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/>
          <p:cNvGrpSpPr/>
          <p:nvPr/>
        </p:nvGrpSpPr>
        <p:grpSpPr>
          <a:xfrm>
            <a:off x="578390" y="748666"/>
            <a:ext cx="7452360" cy="2255520"/>
            <a:chOff x="578390" y="794386"/>
            <a:chExt cx="7452360" cy="2255520"/>
          </a:xfrm>
        </p:grpSpPr>
        <p:grpSp>
          <p:nvGrpSpPr>
            <p:cNvPr id="8" name="组合 7"/>
            <p:cNvGrpSpPr/>
            <p:nvPr/>
          </p:nvGrpSpPr>
          <p:grpSpPr>
            <a:xfrm>
              <a:off x="578390" y="794386"/>
              <a:ext cx="7452360" cy="2255520"/>
              <a:chOff x="719185" y="794386"/>
              <a:chExt cx="7452360" cy="2255520"/>
            </a:xfrm>
          </p:grpSpPr>
          <p:pic>
            <p:nvPicPr>
              <p:cNvPr id="4" name="图片 3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53925" y="1753236"/>
                <a:ext cx="791210" cy="1195705"/>
              </a:xfrm>
              <a:prstGeom prst="rect">
                <a:avLst/>
              </a:prstGeom>
              <a:ln w="19050">
                <a:solidFill>
                  <a:schemeClr val="bg1"/>
                </a:solidFill>
              </a:ln>
              <a:effectLst>
                <a:outerShdw blurRad="50800" dist="38100" dir="2700000" algn="tl" rotWithShape="0">
                  <a:srgbClr val="439F98">
                    <a:alpha val="40000"/>
                  </a:srgbClr>
                </a:outerShdw>
              </a:effectLst>
            </p:spPr>
          </p:pic>
          <p:pic>
            <p:nvPicPr>
              <p:cNvPr id="13" name="图片 12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56385" y="1753236"/>
                <a:ext cx="1915160" cy="1209040"/>
              </a:xfrm>
              <a:prstGeom prst="rect">
                <a:avLst/>
              </a:prstGeom>
              <a:ln w="19050">
                <a:solidFill>
                  <a:schemeClr val="bg1"/>
                </a:solidFill>
              </a:ln>
              <a:effectLst>
                <a:outerShdw blurRad="50800" dist="38100" dir="2700000" algn="tl" rotWithShape="0">
                  <a:srgbClr val="439F98">
                    <a:alpha val="40000"/>
                  </a:srgbClr>
                </a:outerShdw>
              </a:effectLst>
            </p:spPr>
          </p:pic>
          <p:pic>
            <p:nvPicPr>
              <p:cNvPr id="16" name="图片 15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81330" y="1749426"/>
                <a:ext cx="934085" cy="1300480"/>
              </a:xfrm>
              <a:prstGeom prst="rect">
                <a:avLst/>
              </a:prstGeom>
              <a:ln w="19050">
                <a:solidFill>
                  <a:schemeClr val="bg1"/>
                </a:solidFill>
              </a:ln>
              <a:effectLst>
                <a:outerShdw blurRad="50800" dist="38100" dir="2700000" algn="tl" rotWithShape="0">
                  <a:srgbClr val="439F98">
                    <a:alpha val="40000"/>
                  </a:srgbClr>
                </a:outerShdw>
              </a:effectLst>
            </p:spPr>
          </p:pic>
          <p:grpSp>
            <p:nvGrpSpPr>
              <p:cNvPr id="7" name="组合 6"/>
              <p:cNvGrpSpPr/>
              <p:nvPr/>
            </p:nvGrpSpPr>
            <p:grpSpPr>
              <a:xfrm>
                <a:off x="719185" y="794386"/>
                <a:ext cx="5838159" cy="830997"/>
                <a:chOff x="2662285" y="1010286"/>
                <a:chExt cx="5268866" cy="830997"/>
              </a:xfrm>
            </p:grpSpPr>
            <p:sp>
              <p:nvSpPr>
                <p:cNvPr id="2" name="矩形: 圆角 1"/>
                <p:cNvSpPr/>
                <p:nvPr/>
              </p:nvSpPr>
              <p:spPr>
                <a:xfrm>
                  <a:off x="2662285" y="1010286"/>
                  <a:ext cx="5268866" cy="830997"/>
                </a:xfrm>
                <a:prstGeom prst="roundRect">
                  <a:avLst>
                    <a:gd name="adj" fmla="val 2819"/>
                  </a:avLst>
                </a:prstGeom>
                <a:gradFill>
                  <a:gsLst>
                    <a:gs pos="0">
                      <a:schemeClr val="bg1"/>
                    </a:gs>
                    <a:gs pos="100000">
                      <a:srgbClr val="C7E7E5">
                        <a:lumMod val="38000"/>
                        <a:lumOff val="62000"/>
                      </a:srgbClr>
                    </a:gs>
                  </a:gsLst>
                  <a:lin ang="5400000" scaled="1"/>
                </a:gradFill>
                <a:ln>
                  <a:solidFill>
                    <a:srgbClr val="C7E7E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endParaRPr>
                </a:p>
              </p:txBody>
            </p:sp>
            <p:sp>
              <p:nvSpPr>
                <p:cNvPr id="6" name="文本框 5"/>
                <p:cNvSpPr txBox="1"/>
                <p:nvPr/>
              </p:nvSpPr>
              <p:spPr>
                <a:xfrm>
                  <a:off x="2811357" y="1073786"/>
                  <a:ext cx="5057795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5767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核心技术</a:t>
                  </a:r>
                  <a:r>
                    <a:rPr kumimoji="0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5767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1</a:t>
                  </a:r>
                  <a:endPara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5767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5767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字源情境学习法：融合文字学、教育学理论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767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</p:grpSp>
        </p:grpSp>
        <p:sp>
          <p:nvSpPr>
            <p:cNvPr id="3" name="矩形 2"/>
            <p:cNvSpPr/>
            <p:nvPr/>
          </p:nvSpPr>
          <p:spPr>
            <a:xfrm>
              <a:off x="4566920" y="2212340"/>
              <a:ext cx="138113" cy="85725"/>
            </a:xfrm>
            <a:prstGeom prst="rect">
              <a:avLst/>
            </a:prstGeom>
            <a:solidFill>
              <a:srgbClr val="FDD39D"/>
            </a:solidFill>
            <a:ln>
              <a:solidFill>
                <a:srgbClr val="FDD3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560070" y="3775075"/>
            <a:ext cx="5236210" cy="1869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grpSp>
        <p:nvGrpSpPr>
          <p:cNvPr id="62" name="组合 61"/>
          <p:cNvGrpSpPr/>
          <p:nvPr/>
        </p:nvGrpSpPr>
        <p:grpSpPr>
          <a:xfrm>
            <a:off x="5567680" y="5309870"/>
            <a:ext cx="6256020" cy="1517725"/>
            <a:chOff x="671" y="11038"/>
            <a:chExt cx="12109" cy="2159"/>
          </a:xfrm>
        </p:grpSpPr>
        <p:grpSp>
          <p:nvGrpSpPr>
            <p:cNvPr id="41" name="组合 40"/>
            <p:cNvGrpSpPr/>
            <p:nvPr/>
          </p:nvGrpSpPr>
          <p:grpSpPr>
            <a:xfrm>
              <a:off x="671" y="11038"/>
              <a:ext cx="6042" cy="1683"/>
              <a:chOff x="811531" y="861061"/>
              <a:chExt cx="3836669" cy="1068612"/>
            </a:xfrm>
          </p:grpSpPr>
          <p:grpSp>
            <p:nvGrpSpPr>
              <p:cNvPr id="42" name="组合 41"/>
              <p:cNvGrpSpPr/>
              <p:nvPr/>
            </p:nvGrpSpPr>
            <p:grpSpPr>
              <a:xfrm>
                <a:off x="811531" y="861061"/>
                <a:ext cx="1927859" cy="1013459"/>
                <a:chOff x="857251" y="868681"/>
                <a:chExt cx="1927859" cy="1013459"/>
              </a:xfrm>
            </p:grpSpPr>
            <p:sp>
              <p:nvSpPr>
                <p:cNvPr id="43" name="矩形: 圆角 2"/>
                <p:cNvSpPr/>
                <p:nvPr/>
              </p:nvSpPr>
              <p:spPr>
                <a:xfrm>
                  <a:off x="857251" y="868681"/>
                  <a:ext cx="1927859" cy="1013459"/>
                </a:xfrm>
                <a:prstGeom prst="roundRect">
                  <a:avLst>
                    <a:gd name="adj" fmla="val 2819"/>
                  </a:avLst>
                </a:prstGeom>
                <a:gradFill>
                  <a:gsLst>
                    <a:gs pos="0">
                      <a:schemeClr val="bg1"/>
                    </a:gs>
                    <a:gs pos="100000">
                      <a:srgbClr val="C7E7E5">
                        <a:lumMod val="38000"/>
                        <a:lumOff val="62000"/>
                      </a:srgbClr>
                    </a:gs>
                  </a:gsLst>
                  <a:lin ang="5400000" scaled="1"/>
                </a:gradFill>
                <a:ln>
                  <a:solidFill>
                    <a:srgbClr val="C7E7E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endParaRPr>
                </a:p>
              </p:txBody>
            </p:sp>
            <p:sp>
              <p:nvSpPr>
                <p:cNvPr id="44" name="文本框 43"/>
                <p:cNvSpPr txBox="1"/>
                <p:nvPr/>
              </p:nvSpPr>
              <p:spPr>
                <a:xfrm>
                  <a:off x="943884" y="881874"/>
                  <a:ext cx="1585938" cy="8170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象形</a:t>
                  </a:r>
                  <a:endPara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142</a:t>
                  </a:r>
                  <a:r>
                    <a:rPr kumimoji="0" lang="zh-CN" altLang="en-US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个</a:t>
                  </a:r>
                  <a:endParaRPr kumimoji="0" lang="en-US" altLang="zh-CN" sz="40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zh-CN" altLang="en-US" sz="1200" b="1" noProof="0" dirty="0">
                      <a:ln>
                        <a:noFill/>
                      </a:ln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原子节点，不拆</a:t>
                  </a:r>
                  <a:endPara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45" name="组合 44"/>
              <p:cNvGrpSpPr/>
              <p:nvPr/>
            </p:nvGrpSpPr>
            <p:grpSpPr>
              <a:xfrm>
                <a:off x="2720341" y="861061"/>
                <a:ext cx="1927859" cy="1068612"/>
                <a:chOff x="739141" y="868681"/>
                <a:chExt cx="1927859" cy="1068612"/>
              </a:xfrm>
            </p:grpSpPr>
            <p:sp>
              <p:nvSpPr>
                <p:cNvPr id="46" name="矩形: 圆角 19"/>
                <p:cNvSpPr/>
                <p:nvPr/>
              </p:nvSpPr>
              <p:spPr>
                <a:xfrm>
                  <a:off x="739141" y="868681"/>
                  <a:ext cx="1927859" cy="1013459"/>
                </a:xfrm>
                <a:prstGeom prst="roundRect">
                  <a:avLst>
                    <a:gd name="adj" fmla="val 2819"/>
                  </a:avLst>
                </a:prstGeom>
                <a:gradFill>
                  <a:gsLst>
                    <a:gs pos="0">
                      <a:schemeClr val="bg1"/>
                    </a:gs>
                    <a:gs pos="100000">
                      <a:srgbClr val="C7E7E5">
                        <a:lumMod val="38000"/>
                        <a:lumOff val="62000"/>
                      </a:srgbClr>
                    </a:gs>
                  </a:gsLst>
                  <a:lin ang="5400000" scaled="1"/>
                </a:gradFill>
                <a:ln>
                  <a:solidFill>
                    <a:srgbClr val="C7E7E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endParaRPr>
                </a:p>
              </p:txBody>
            </p:sp>
            <p:sp>
              <p:nvSpPr>
                <p:cNvPr id="47" name="文本框 46"/>
                <p:cNvSpPr txBox="1"/>
                <p:nvPr/>
              </p:nvSpPr>
              <p:spPr>
                <a:xfrm>
                  <a:off x="879628" y="881874"/>
                  <a:ext cx="1738913" cy="10554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5767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指事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767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5767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82</a:t>
                  </a:r>
                  <a:r>
                    <a:rPr kumimoji="0" lang="zh-CN" altLang="en-US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5767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个</a:t>
                  </a:r>
                  <a:endPara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767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原子节点，不拆</a:t>
                  </a:r>
                  <a:endPara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</p:grpSp>
        </p:grpSp>
        <p:grpSp>
          <p:nvGrpSpPr>
            <p:cNvPr id="48" name="组合 47"/>
            <p:cNvGrpSpPr/>
            <p:nvPr/>
          </p:nvGrpSpPr>
          <p:grpSpPr>
            <a:xfrm>
              <a:off x="6711" y="11038"/>
              <a:ext cx="6069" cy="2159"/>
              <a:chOff x="693421" y="861061"/>
              <a:chExt cx="3853904" cy="1370965"/>
            </a:xfrm>
          </p:grpSpPr>
          <p:grpSp>
            <p:nvGrpSpPr>
              <p:cNvPr id="49" name="组合 48"/>
              <p:cNvGrpSpPr/>
              <p:nvPr/>
            </p:nvGrpSpPr>
            <p:grpSpPr>
              <a:xfrm>
                <a:off x="693421" y="861061"/>
                <a:ext cx="1927859" cy="1207180"/>
                <a:chOff x="739141" y="868681"/>
                <a:chExt cx="1927859" cy="1207180"/>
              </a:xfrm>
            </p:grpSpPr>
            <p:sp>
              <p:nvSpPr>
                <p:cNvPr id="50" name="矩形: 圆角 2"/>
                <p:cNvSpPr/>
                <p:nvPr/>
              </p:nvSpPr>
              <p:spPr>
                <a:xfrm>
                  <a:off x="739141" y="868681"/>
                  <a:ext cx="1927859" cy="1013459"/>
                </a:xfrm>
                <a:prstGeom prst="roundRect">
                  <a:avLst>
                    <a:gd name="adj" fmla="val 2819"/>
                  </a:avLst>
                </a:prstGeom>
                <a:gradFill>
                  <a:gsLst>
                    <a:gs pos="0">
                      <a:schemeClr val="bg1"/>
                    </a:gs>
                    <a:gs pos="100000">
                      <a:srgbClr val="C7E7E5">
                        <a:lumMod val="38000"/>
                        <a:lumOff val="62000"/>
                      </a:srgbClr>
                    </a:gs>
                  </a:gsLst>
                  <a:lin ang="5400000" scaled="1"/>
                </a:gradFill>
                <a:ln>
                  <a:solidFill>
                    <a:srgbClr val="C7E7E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endParaRPr>
                </a:p>
              </p:txBody>
            </p:sp>
            <p:sp>
              <p:nvSpPr>
                <p:cNvPr id="51" name="文本框 50"/>
                <p:cNvSpPr txBox="1"/>
                <p:nvPr/>
              </p:nvSpPr>
              <p:spPr>
                <a:xfrm>
                  <a:off x="1112994" y="881632"/>
                  <a:ext cx="1393950" cy="11942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会意</a:t>
                  </a:r>
                  <a:endPara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849个</a:t>
                  </a:r>
                  <a:endPara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义素合成拆分</a:t>
                  </a:r>
                  <a:endPara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52" name="组合 51"/>
              <p:cNvGrpSpPr/>
              <p:nvPr/>
            </p:nvGrpSpPr>
            <p:grpSpPr>
              <a:xfrm>
                <a:off x="2618741" y="861061"/>
                <a:ext cx="1928584" cy="1370965"/>
                <a:chOff x="637541" y="868681"/>
                <a:chExt cx="1928584" cy="1370965"/>
              </a:xfrm>
            </p:grpSpPr>
            <p:sp>
              <p:nvSpPr>
                <p:cNvPr id="53" name="矩形: 圆角 19"/>
                <p:cNvSpPr/>
                <p:nvPr/>
              </p:nvSpPr>
              <p:spPr>
                <a:xfrm>
                  <a:off x="637541" y="868681"/>
                  <a:ext cx="1927859" cy="1013459"/>
                </a:xfrm>
                <a:prstGeom prst="roundRect">
                  <a:avLst>
                    <a:gd name="adj" fmla="val 2819"/>
                  </a:avLst>
                </a:prstGeom>
                <a:gradFill>
                  <a:gsLst>
                    <a:gs pos="0">
                      <a:schemeClr val="bg1"/>
                    </a:gs>
                    <a:gs pos="100000">
                      <a:srgbClr val="C7E7E5">
                        <a:lumMod val="38000"/>
                        <a:lumOff val="62000"/>
                      </a:srgbClr>
                    </a:gs>
                  </a:gsLst>
                  <a:lin ang="5400000" scaled="1"/>
                </a:gradFill>
                <a:ln>
                  <a:solidFill>
                    <a:srgbClr val="C7E7E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endParaRPr>
                </a:p>
              </p:txBody>
            </p:sp>
            <p:sp>
              <p:nvSpPr>
                <p:cNvPr id="54" name="文本框 53"/>
                <p:cNvSpPr txBox="1"/>
                <p:nvPr/>
              </p:nvSpPr>
              <p:spPr>
                <a:xfrm>
                  <a:off x="762419" y="881632"/>
                  <a:ext cx="1803706" cy="13580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5767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形声</a:t>
                  </a:r>
                  <a:endPara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767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5767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2,160个</a:t>
                  </a:r>
                  <a:endPara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767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zh-CN" altLang="en-US" sz="1200" b="1" noProof="0">
                      <a:ln>
                        <a:noFill/>
                      </a:ln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形旁+声旁拆分</a:t>
                  </a:r>
                  <a:endPara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</p:grpSp>
        </p:grpSp>
      </p:grpSp>
      <p:pic>
        <p:nvPicPr>
          <p:cNvPr id="65" name="图片 64"/>
          <p:cNvPicPr/>
          <p:nvPr/>
        </p:nvPicPr>
        <p:blipFill>
          <a:blip r:embed="rId7"/>
          <a:srcRect t="224" b="-224"/>
          <a:stretch>
            <a:fillRect/>
          </a:stretch>
        </p:blipFill>
        <p:spPr>
          <a:xfrm>
            <a:off x="2174875" y="4201795"/>
            <a:ext cx="3067050" cy="2427605"/>
          </a:xfrm>
          <a:prstGeom prst="rect">
            <a:avLst/>
          </a:prstGeom>
        </p:spPr>
      </p:pic>
      <p:grpSp>
        <p:nvGrpSpPr>
          <p:cNvPr id="77" name="组合 76"/>
          <p:cNvGrpSpPr/>
          <p:nvPr/>
        </p:nvGrpSpPr>
        <p:grpSpPr>
          <a:xfrm>
            <a:off x="527685" y="1706880"/>
            <a:ext cx="3630930" cy="1535430"/>
            <a:chOff x="576" y="1586"/>
            <a:chExt cx="9714" cy="4786"/>
          </a:xfrm>
        </p:grpSpPr>
        <p:grpSp>
          <p:nvGrpSpPr>
            <p:cNvPr id="78" name="组合 77"/>
            <p:cNvGrpSpPr/>
            <p:nvPr/>
          </p:nvGrpSpPr>
          <p:grpSpPr>
            <a:xfrm rot="0">
              <a:off x="576" y="4629"/>
              <a:ext cx="8120" cy="1743"/>
              <a:chOff x="-8350819" y="1957438"/>
              <a:chExt cx="7353245" cy="1106799"/>
            </a:xfrm>
          </p:grpSpPr>
          <p:sp>
            <p:nvSpPr>
              <p:cNvPr id="79" name="矩形: 圆角 81"/>
              <p:cNvSpPr/>
              <p:nvPr/>
            </p:nvSpPr>
            <p:spPr>
              <a:xfrm>
                <a:off x="-8350819" y="1957706"/>
                <a:ext cx="7352936" cy="1106531"/>
              </a:xfrm>
              <a:prstGeom prst="roundRect">
                <a:avLst>
                  <a:gd name="adj" fmla="val 2819"/>
                </a:avLst>
              </a:prstGeom>
              <a:gradFill>
                <a:gsLst>
                  <a:gs pos="0">
                    <a:schemeClr val="bg1"/>
                  </a:gs>
                  <a:gs pos="100000">
                    <a:srgbClr val="C7E7E5">
                      <a:lumMod val="38000"/>
                      <a:lumOff val="62000"/>
                    </a:srgbClr>
                  </a:gs>
                </a:gsLst>
                <a:lin ang="5400000" scaled="1"/>
              </a:gradFill>
              <a:ln>
                <a:solidFill>
                  <a:srgbClr val="C7E7E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80" name="文本框 79"/>
              <p:cNvSpPr txBox="1"/>
              <p:nvPr/>
            </p:nvSpPr>
            <p:spPr>
              <a:xfrm>
                <a:off x="-8271433" y="1957438"/>
                <a:ext cx="7273859" cy="10947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zh-CN" altLang="en-US" sz="1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理查德・西尔斯（</a:t>
                </a:r>
                <a:r>
                  <a:rPr lang="en-US" altLang="zh-CN" sz="1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Richard Sears</a:t>
                </a:r>
                <a:r>
                  <a:rPr lang="zh-CN" altLang="en-US" sz="1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）美国学者：</a:t>
                </a:r>
                <a:endParaRPr lang="en-US" altLang="zh-CN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lvl="0">
                  <a:defRPr/>
                </a:pPr>
                <a:r>
                  <a:rPr lang="zh-CN" altLang="en-US" sz="1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建</a:t>
                </a:r>
                <a:r>
                  <a:rPr lang="zh-CN" altLang="en-US" sz="1000" b="1" dirty="0">
                    <a:solidFill>
                      <a:srgbClr val="3A888D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字源</a:t>
                </a:r>
                <a:r>
                  <a:rPr lang="zh-CN" altLang="en-US" sz="1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网站      整理</a:t>
                </a:r>
                <a:r>
                  <a:rPr lang="en-US" altLang="zh-CN" sz="1000" b="1" dirty="0">
                    <a:solidFill>
                      <a:srgbClr val="3A888D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10</a:t>
                </a:r>
                <a:r>
                  <a:rPr lang="zh-CN" altLang="en-US" sz="1000" b="1" dirty="0">
                    <a:solidFill>
                      <a:srgbClr val="3A888D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万</a:t>
                </a:r>
                <a:r>
                  <a:rPr lang="en-US" altLang="zh-CN" sz="1000" b="1" dirty="0">
                    <a:solidFill>
                      <a:srgbClr val="3A888D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+</a:t>
                </a:r>
                <a:r>
                  <a:rPr lang="zh-CN" altLang="en-US" sz="1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条甲骨金文古字形</a:t>
                </a:r>
                <a:endParaRPr lang="en-US" altLang="zh-CN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lvl="0">
                  <a:defRPr/>
                </a:pPr>
                <a:r>
                  <a:rPr lang="zh-CN" altLang="en-US" sz="1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让字源学习法惠及   </a:t>
                </a:r>
                <a:r>
                  <a:rPr lang="zh-CN" altLang="en-US" sz="1000" b="1" dirty="0">
                    <a:solidFill>
                      <a:srgbClr val="3A888D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全球数千万   </a:t>
                </a:r>
                <a:r>
                  <a:rPr lang="zh-CN" altLang="en-US" sz="1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中文学习者</a:t>
                </a:r>
                <a:endParaRPr lang="zh-CN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81" name="组合 80"/>
            <p:cNvGrpSpPr/>
            <p:nvPr/>
          </p:nvGrpSpPr>
          <p:grpSpPr>
            <a:xfrm rot="0">
              <a:off x="611" y="1586"/>
              <a:ext cx="9679" cy="3076"/>
              <a:chOff x="482964" y="949961"/>
              <a:chExt cx="6146436" cy="1952910"/>
            </a:xfrm>
          </p:grpSpPr>
          <p:grpSp>
            <p:nvGrpSpPr>
              <p:cNvPr id="84" name="组合 83"/>
              <p:cNvGrpSpPr/>
              <p:nvPr/>
            </p:nvGrpSpPr>
            <p:grpSpPr>
              <a:xfrm rot="0">
                <a:off x="482964" y="949961"/>
                <a:ext cx="6146436" cy="878561"/>
                <a:chOff x="673464" y="845186"/>
                <a:chExt cx="7352936" cy="878561"/>
              </a:xfrm>
            </p:grpSpPr>
            <p:sp>
              <p:nvSpPr>
                <p:cNvPr id="85" name="矩形: 圆角 2"/>
                <p:cNvSpPr/>
                <p:nvPr/>
              </p:nvSpPr>
              <p:spPr>
                <a:xfrm>
                  <a:off x="673464" y="845186"/>
                  <a:ext cx="7352936" cy="824864"/>
                </a:xfrm>
                <a:prstGeom prst="roundRect">
                  <a:avLst>
                    <a:gd name="adj" fmla="val 2819"/>
                  </a:avLst>
                </a:prstGeom>
                <a:gradFill>
                  <a:gsLst>
                    <a:gs pos="0">
                      <a:schemeClr val="bg1"/>
                    </a:gs>
                    <a:gs pos="100000">
                      <a:srgbClr val="C7E7E5">
                        <a:lumMod val="38000"/>
                        <a:lumOff val="62000"/>
                      </a:srgbClr>
                    </a:gs>
                  </a:gsLst>
                  <a:lin ang="5400000" scaled="1"/>
                </a:gradFill>
                <a:ln>
                  <a:solidFill>
                    <a:srgbClr val="C7E7E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endParaRPr>
                </a:p>
              </p:txBody>
            </p:sp>
            <p:sp>
              <p:nvSpPr>
                <p:cNvPr id="86" name="文本框 85"/>
                <p:cNvSpPr txBox="1"/>
                <p:nvPr/>
              </p:nvSpPr>
              <p:spPr>
                <a:xfrm>
                  <a:off x="713003" y="934453"/>
                  <a:ext cx="7273859" cy="78929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许慎：</a:t>
                  </a:r>
                  <a:r>
                    <a:rPr kumimoji="0" lang="en-US" altLang="zh-CN" sz="1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《</a:t>
                  </a:r>
                  <a:r>
                    <a:rPr kumimoji="0" lang="zh-CN" altLang="en-US" sz="1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说文解字</a:t>
                  </a:r>
                  <a:r>
                    <a:rPr kumimoji="0" lang="en-US" altLang="zh-CN" sz="1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》</a:t>
                  </a:r>
                  <a:r>
                    <a:rPr kumimoji="0" lang="zh-CN" altLang="en-US" sz="1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首创</a:t>
                  </a:r>
                  <a:r>
                    <a:rPr kumimoji="0" lang="en-US" altLang="zh-CN" sz="1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3A888D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540</a:t>
                  </a:r>
                  <a:r>
                    <a:rPr kumimoji="0" lang="zh-CN" altLang="en-US" sz="1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3A888D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个</a:t>
                  </a:r>
                  <a:r>
                    <a:rPr lang="zh-CN" altLang="en-US" sz="10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部首分类法，系统串联</a:t>
                  </a:r>
                  <a:r>
                    <a:rPr lang="en-US" altLang="zh-CN" sz="1000" b="1" dirty="0">
                      <a:solidFill>
                        <a:srgbClr val="3A888D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9353</a:t>
                  </a:r>
                  <a:r>
                    <a:rPr lang="zh-CN" altLang="en-US" sz="1000" b="1" dirty="0">
                      <a:solidFill>
                        <a:srgbClr val="3A888D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个</a:t>
                  </a:r>
                  <a:r>
                    <a:rPr lang="zh-CN" altLang="en-US" sz="10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正篆、</a:t>
                  </a:r>
                  <a:r>
                    <a:rPr lang="en-US" altLang="zh-CN" sz="1000" b="1" dirty="0">
                      <a:solidFill>
                        <a:srgbClr val="3A888D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1163</a:t>
                  </a:r>
                  <a:r>
                    <a:rPr lang="zh-CN" altLang="en-US" sz="1000" b="1" dirty="0">
                      <a:solidFill>
                        <a:srgbClr val="3A888D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个</a:t>
                  </a:r>
                  <a:r>
                    <a:rPr lang="zh-CN" altLang="en-US" sz="10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重文，奠定字源学习法的理论根基</a:t>
                  </a:r>
                  <a:endParaRPr lang="en-US" altLang="zh-CN" sz="1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87" name="组合 86"/>
              <p:cNvGrpSpPr/>
              <p:nvPr/>
            </p:nvGrpSpPr>
            <p:grpSpPr>
              <a:xfrm rot="0">
                <a:off x="482964" y="1774779"/>
                <a:ext cx="6146436" cy="1128092"/>
                <a:chOff x="673464" y="-1157016"/>
                <a:chExt cx="7352936" cy="1128092"/>
              </a:xfrm>
            </p:grpSpPr>
            <p:sp>
              <p:nvSpPr>
                <p:cNvPr id="88" name="矩形: 圆角 53"/>
                <p:cNvSpPr/>
                <p:nvPr/>
              </p:nvSpPr>
              <p:spPr>
                <a:xfrm>
                  <a:off x="673464" y="-1157016"/>
                  <a:ext cx="7352936" cy="1107439"/>
                </a:xfrm>
                <a:prstGeom prst="roundRect">
                  <a:avLst>
                    <a:gd name="adj" fmla="val 2819"/>
                  </a:avLst>
                </a:prstGeom>
                <a:gradFill>
                  <a:gsLst>
                    <a:gs pos="0">
                      <a:schemeClr val="bg1"/>
                    </a:gs>
                    <a:gs pos="100000">
                      <a:srgbClr val="C7E7E5">
                        <a:lumMod val="38000"/>
                        <a:lumOff val="62000"/>
                      </a:srgbClr>
                    </a:gs>
                  </a:gsLst>
                  <a:lin ang="5400000" scaled="1"/>
                </a:gradFill>
                <a:ln>
                  <a:solidFill>
                    <a:srgbClr val="C7E7E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endParaRPr>
                </a:p>
              </p:txBody>
            </p:sp>
            <p:sp>
              <p:nvSpPr>
                <p:cNvPr id="89" name="文本框 88"/>
                <p:cNvSpPr txBox="1"/>
                <p:nvPr/>
              </p:nvSpPr>
              <p:spPr>
                <a:xfrm>
                  <a:off x="713003" y="-1123630"/>
                  <a:ext cx="7273859" cy="109470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zh-CN" altLang="en-US" sz="10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王宁：任</a:t>
                  </a:r>
                  <a:r>
                    <a:rPr lang="en-US" altLang="zh-CN" sz="10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《</a:t>
                  </a:r>
                  <a:r>
                    <a:rPr lang="zh-CN" altLang="en-US" sz="10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通用规范汉字表</a:t>
                  </a:r>
                  <a:r>
                    <a:rPr lang="en-US" altLang="zh-CN" sz="10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》</a:t>
                  </a:r>
                  <a:r>
                    <a:rPr lang="zh-CN" altLang="en-US" sz="10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研制组组长</a:t>
                  </a:r>
                  <a:endParaRPr lang="en-US" altLang="zh-CN" sz="1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zh-CN" altLang="en-US" sz="10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规范</a:t>
                  </a:r>
                  <a:r>
                    <a:rPr lang="en-US" altLang="zh-CN" sz="1000" b="1" dirty="0">
                      <a:solidFill>
                        <a:srgbClr val="3A888D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8105</a:t>
                  </a:r>
                  <a:r>
                    <a:rPr lang="zh-CN" altLang="en-US" sz="1000" b="1" dirty="0">
                      <a:solidFill>
                        <a:srgbClr val="3A888D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个</a:t>
                  </a:r>
                  <a:r>
                    <a:rPr lang="zh-CN" altLang="en-US" sz="10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现代汉字（一级</a:t>
                  </a:r>
                  <a:r>
                    <a:rPr lang="en-US" altLang="zh-CN" sz="1000" b="1" dirty="0">
                      <a:solidFill>
                        <a:srgbClr val="3A888D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3500</a:t>
                  </a:r>
                  <a:r>
                    <a:rPr lang="zh-CN" altLang="en-US" sz="1000" b="1" dirty="0">
                      <a:solidFill>
                        <a:srgbClr val="3A888D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字</a:t>
                  </a:r>
                  <a:r>
                    <a:rPr lang="zh-CN" altLang="en-US" sz="10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覆盖</a:t>
                  </a:r>
                  <a:r>
                    <a:rPr lang="en-US" altLang="zh-CN" sz="1000" b="1" dirty="0">
                      <a:solidFill>
                        <a:srgbClr val="3A888D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99%</a:t>
                  </a:r>
                  <a:r>
                    <a:rPr lang="zh-CN" altLang="en-US" sz="10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日常用语）</a:t>
                  </a:r>
                  <a:endParaRPr lang="en-US" altLang="zh-CN" sz="1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zh-CN" altLang="en-US" sz="10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以</a:t>
                  </a:r>
                  <a:r>
                    <a:rPr lang="zh-CN" altLang="en-US" sz="1000" b="1" dirty="0">
                      <a:solidFill>
                        <a:srgbClr val="3A888D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汉字构形学</a:t>
                  </a:r>
                  <a:r>
                    <a:rPr lang="zh-CN" altLang="en-US" sz="10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为学术支撑</a:t>
                  </a:r>
                  <a:endParaRPr lang="zh-CN" altLang="en-US" sz="1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</p:grpSp>
      <p:grpSp>
        <p:nvGrpSpPr>
          <p:cNvPr id="101" name="组合 100"/>
          <p:cNvGrpSpPr/>
          <p:nvPr/>
        </p:nvGrpSpPr>
        <p:grpSpPr>
          <a:xfrm>
            <a:off x="513080" y="4201795"/>
            <a:ext cx="1661160" cy="2440940"/>
            <a:chOff x="5848" y="6956"/>
            <a:chExt cx="2616" cy="3844"/>
          </a:xfrm>
        </p:grpSpPr>
        <p:pic>
          <p:nvPicPr>
            <p:cNvPr id="91" name="图片 90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5850" y="6956"/>
              <a:ext cx="1560" cy="1021"/>
            </a:xfrm>
            <a:prstGeom prst="rect">
              <a:avLst/>
            </a:prstGeom>
          </p:spPr>
        </p:pic>
        <p:pic>
          <p:nvPicPr>
            <p:cNvPr id="92" name="图片 91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7410" y="6956"/>
              <a:ext cx="1055" cy="961"/>
            </a:xfrm>
            <a:prstGeom prst="rect">
              <a:avLst/>
            </a:prstGeom>
          </p:spPr>
        </p:pic>
        <p:pic>
          <p:nvPicPr>
            <p:cNvPr id="93" name="图片 92"/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7410" y="7917"/>
              <a:ext cx="1055" cy="1027"/>
            </a:xfrm>
            <a:prstGeom prst="rect">
              <a:avLst/>
            </a:prstGeom>
          </p:spPr>
        </p:pic>
        <p:pic>
          <p:nvPicPr>
            <p:cNvPr id="94" name="图片 93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7410" y="8944"/>
              <a:ext cx="1055" cy="930"/>
            </a:xfrm>
            <a:prstGeom prst="rect">
              <a:avLst/>
            </a:prstGeom>
          </p:spPr>
        </p:pic>
        <p:pic>
          <p:nvPicPr>
            <p:cNvPr id="95" name="图片 94"/>
            <p:cNvPicPr/>
            <p:nvPr/>
          </p:nvPicPr>
          <p:blipFill>
            <a:blip r:embed="rId12"/>
            <a:stretch>
              <a:fillRect/>
            </a:stretch>
          </p:blipFill>
          <p:spPr>
            <a:xfrm>
              <a:off x="7410" y="9874"/>
              <a:ext cx="1055" cy="927"/>
            </a:xfrm>
            <a:prstGeom prst="rect">
              <a:avLst/>
            </a:prstGeom>
          </p:spPr>
        </p:pic>
        <p:pic>
          <p:nvPicPr>
            <p:cNvPr id="96" name="图片 95"/>
            <p:cNvPicPr/>
            <p:nvPr/>
          </p:nvPicPr>
          <p:blipFill>
            <a:blip r:embed="rId13"/>
            <a:stretch>
              <a:fillRect/>
            </a:stretch>
          </p:blipFill>
          <p:spPr>
            <a:xfrm>
              <a:off x="5848" y="7917"/>
              <a:ext cx="1562" cy="1027"/>
            </a:xfrm>
            <a:prstGeom prst="rect">
              <a:avLst/>
            </a:prstGeom>
          </p:spPr>
        </p:pic>
        <p:pic>
          <p:nvPicPr>
            <p:cNvPr id="97" name="图片 96"/>
            <p:cNvPicPr/>
            <p:nvPr/>
          </p:nvPicPr>
          <p:blipFill>
            <a:blip r:embed="rId14"/>
            <a:stretch>
              <a:fillRect/>
            </a:stretch>
          </p:blipFill>
          <p:spPr>
            <a:xfrm>
              <a:off x="5849" y="8944"/>
              <a:ext cx="1635" cy="930"/>
            </a:xfrm>
            <a:prstGeom prst="rect">
              <a:avLst/>
            </a:prstGeom>
          </p:spPr>
        </p:pic>
        <p:pic>
          <p:nvPicPr>
            <p:cNvPr id="98" name="图片 97"/>
            <p:cNvPicPr/>
            <p:nvPr/>
          </p:nvPicPr>
          <p:blipFill>
            <a:blip r:embed="rId15"/>
            <a:stretch>
              <a:fillRect/>
            </a:stretch>
          </p:blipFill>
          <p:spPr>
            <a:xfrm>
              <a:off x="5848" y="9874"/>
              <a:ext cx="1562" cy="927"/>
            </a:xfrm>
            <a:prstGeom prst="rect">
              <a:avLst/>
            </a:prstGeom>
          </p:spPr>
        </p:pic>
      </p:grpSp>
      <p:pic>
        <p:nvPicPr>
          <p:cNvPr id="99" name="图片 98"/>
          <p:cNvPicPr/>
          <p:nvPr/>
        </p:nvPicPr>
        <p:blipFill>
          <a:blip r:embed="rId16"/>
          <a:srcRect l="1360" t="4134" r="2177"/>
          <a:stretch>
            <a:fillRect/>
          </a:stretch>
        </p:blipFill>
        <p:spPr>
          <a:xfrm>
            <a:off x="513080" y="3730625"/>
            <a:ext cx="4727575" cy="471170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86360" y="4460875"/>
            <a:ext cx="596900" cy="2352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华文仿宋" panose="02010600040101010101" charset="-122"/>
                <a:ea typeface="华文仿宋" panose="02010600040101010101" charset="-122"/>
              </a:rPr>
              <a:t>汉</a:t>
            </a:r>
            <a:endParaRPr lang="zh-CN" altLang="en-US" b="1">
              <a:latin typeface="华文仿宋" panose="02010600040101010101" charset="-122"/>
              <a:ea typeface="华文仿宋" panose="02010600040101010101" charset="-122"/>
            </a:endParaRPr>
          </a:p>
          <a:p>
            <a:endParaRPr lang="zh-CN" altLang="en-US" b="1">
              <a:latin typeface="华文仿宋" panose="02010600040101010101" charset="-122"/>
              <a:ea typeface="华文仿宋" panose="02010600040101010101" charset="-122"/>
            </a:endParaRPr>
          </a:p>
          <a:p>
            <a:r>
              <a:rPr lang="zh-CN" altLang="en-US" b="1">
                <a:latin typeface="华文仿宋" panose="02010600040101010101" charset="-122"/>
                <a:ea typeface="华文仿宋" panose="02010600040101010101" charset="-122"/>
              </a:rPr>
              <a:t>旦</a:t>
            </a:r>
            <a:endParaRPr lang="zh-CN" altLang="en-US" b="1">
              <a:latin typeface="华文仿宋" panose="02010600040101010101" charset="-122"/>
              <a:ea typeface="华文仿宋" panose="02010600040101010101" charset="-122"/>
            </a:endParaRPr>
          </a:p>
          <a:p>
            <a:endParaRPr lang="zh-CN" altLang="en-US" b="1">
              <a:latin typeface="华文仿宋" panose="02010600040101010101" charset="-122"/>
              <a:ea typeface="华文仿宋" panose="02010600040101010101" charset="-122"/>
            </a:endParaRPr>
          </a:p>
          <a:p>
            <a:r>
              <a:rPr lang="zh-CN" altLang="en-US" b="1">
                <a:latin typeface="华文仿宋" panose="02010600040101010101" charset="-122"/>
                <a:ea typeface="华文仿宋" panose="02010600040101010101" charset="-122"/>
              </a:rPr>
              <a:t>国</a:t>
            </a:r>
            <a:endParaRPr lang="zh-CN" altLang="en-US" b="1">
              <a:latin typeface="华文仿宋" panose="02010600040101010101" charset="-122"/>
              <a:ea typeface="华文仿宋" panose="02010600040101010101" charset="-122"/>
            </a:endParaRPr>
          </a:p>
          <a:p>
            <a:endParaRPr lang="zh-CN" altLang="en-US" b="1">
              <a:latin typeface="华文仿宋" panose="02010600040101010101" charset="-122"/>
              <a:ea typeface="华文仿宋" panose="02010600040101010101" charset="-122"/>
            </a:endParaRPr>
          </a:p>
          <a:p>
            <a:r>
              <a:rPr lang="zh-CN" altLang="en-US" b="1">
                <a:latin typeface="华文仿宋" panose="02010600040101010101" charset="-122"/>
                <a:ea typeface="华文仿宋" panose="02010600040101010101" charset="-122"/>
              </a:rPr>
              <a:t>辩</a:t>
            </a:r>
            <a:endParaRPr lang="zh-CN" altLang="en-US" b="1">
              <a:latin typeface="华文仿宋" panose="02010600040101010101" charset="-122"/>
              <a:ea typeface="华文仿宋" panose="02010600040101010101" charset="-122"/>
            </a:endParaRPr>
          </a:p>
        </p:txBody>
      </p:sp>
      <p:pic>
        <p:nvPicPr>
          <p:cNvPr id="102" name="图片 101"/>
          <p:cNvPicPr/>
          <p:nvPr/>
        </p:nvPicPr>
        <p:blipFill>
          <a:blip r:embed="rId17"/>
          <a:stretch>
            <a:fillRect/>
          </a:stretch>
        </p:blipFill>
        <p:spPr>
          <a:xfrm>
            <a:off x="5567680" y="3358515"/>
            <a:ext cx="2317750" cy="1689100"/>
          </a:xfrm>
          <a:prstGeom prst="rect">
            <a:avLst/>
          </a:prstGeom>
        </p:spPr>
      </p:pic>
      <p:sp>
        <p:nvSpPr>
          <p:cNvPr id="103" name="矩形: 圆角 6"/>
          <p:cNvSpPr/>
          <p:nvPr/>
        </p:nvSpPr>
        <p:spPr>
          <a:xfrm>
            <a:off x="683260" y="3358515"/>
            <a:ext cx="2485390" cy="360045"/>
          </a:xfrm>
          <a:prstGeom prst="roundRect">
            <a:avLst/>
          </a:prstGeom>
          <a:gradFill flip="none" rotWithShape="1">
            <a:gsLst>
              <a:gs pos="98000">
                <a:srgbClr val="36907E"/>
              </a:gs>
              <a:gs pos="16000">
                <a:srgbClr val="ABDACB">
                  <a:lumMod val="72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76910" y="3346450"/>
            <a:ext cx="3536315" cy="372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十二种造字结构全覆盖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5567045" y="4941570"/>
            <a:ext cx="4210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《说文解字》六书分类体系</a:t>
            </a:r>
            <a:r>
              <a:rPr lang="zh-CN" altLang="en-US"/>
              <a:t>驱动</a:t>
            </a:r>
            <a:endParaRPr lang="zh-CN" altLang="en-US"/>
          </a:p>
        </p:txBody>
      </p:sp>
      <p:sp>
        <p:nvSpPr>
          <p:cNvPr id="120" name="文本框 119"/>
          <p:cNvSpPr txBox="1"/>
          <p:nvPr/>
        </p:nvSpPr>
        <p:spPr>
          <a:xfrm>
            <a:off x="5372100" y="6431915"/>
            <a:ext cx="64312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对每个汉字执行差异化拆解：解决了"统一递归拆解导致伪字理教学"的核心痛点。</a:t>
            </a:r>
            <a:endParaRPr lang="zh-CN" altLang="en-US" sz="1400"/>
          </a:p>
        </p:txBody>
      </p:sp>
      <p:sp>
        <p:nvSpPr>
          <p:cNvPr id="64" name="文本框 63"/>
          <p:cNvSpPr txBox="1"/>
          <p:nvPr/>
        </p:nvSpPr>
        <p:spPr>
          <a:xfrm>
            <a:off x="5638165" y="3098800"/>
            <a:ext cx="2287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例：森（</a:t>
            </a:r>
            <a:r>
              <a:rPr lang="zh-CN" altLang="en-US"/>
              <a:t>会意字）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603153" y="660401"/>
            <a:ext cx="6241511" cy="904240"/>
            <a:chOff x="601836" y="660401"/>
            <a:chExt cx="5909419" cy="904240"/>
          </a:xfrm>
        </p:grpSpPr>
        <p:sp>
          <p:nvSpPr>
            <p:cNvPr id="10" name="矩形: 圆角 9"/>
            <p:cNvSpPr/>
            <p:nvPr/>
          </p:nvSpPr>
          <p:spPr>
            <a:xfrm>
              <a:off x="601836" y="660401"/>
              <a:ext cx="5909419" cy="830997"/>
            </a:xfrm>
            <a:prstGeom prst="roundRect">
              <a:avLst>
                <a:gd name="adj" fmla="val 2819"/>
              </a:avLst>
            </a:prstGeom>
            <a:gradFill>
              <a:gsLst>
                <a:gs pos="0">
                  <a:schemeClr val="bg1"/>
                </a:gs>
                <a:gs pos="100000">
                  <a:srgbClr val="C7E7E5">
                    <a:lumMod val="38000"/>
                    <a:lumOff val="62000"/>
                  </a:srgbClr>
                </a:gs>
              </a:gsLst>
              <a:lin ang="5400000" scaled="1"/>
            </a:gradFill>
            <a:ln>
              <a:solidFill>
                <a:srgbClr val="C7E7E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743569" y="857886"/>
              <a:ext cx="3780431" cy="7067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576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核心技术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576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2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57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576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多维汉字系联网络：知识图谱引擎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57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矩形: 圆角 3"/>
          <p:cNvSpPr/>
          <p:nvPr/>
        </p:nvSpPr>
        <p:spPr>
          <a:xfrm>
            <a:off x="2065025" y="265013"/>
            <a:ext cx="1152000" cy="360000"/>
          </a:xfrm>
          <a:prstGeom prst="roundRect">
            <a:avLst/>
          </a:prstGeom>
          <a:gradFill flip="none" rotWithShape="1">
            <a:gsLst>
              <a:gs pos="98000">
                <a:srgbClr val="36907E"/>
              </a:gs>
              <a:gs pos="16000">
                <a:srgbClr val="ABDACB">
                  <a:lumMod val="72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项目概述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683035" y="265013"/>
            <a:ext cx="1152000" cy="360000"/>
          </a:xfrm>
          <a:prstGeom prst="roundRect">
            <a:avLst/>
          </a:prstGeom>
          <a:gradFill flip="none" rotWithShape="1">
            <a:gsLst>
              <a:gs pos="98000">
                <a:srgbClr val="36907E"/>
              </a:gs>
              <a:gs pos="16000">
                <a:srgbClr val="ABDACB">
                  <a:lumMod val="72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项目背景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3447015" y="265013"/>
            <a:ext cx="1152000" cy="360000"/>
          </a:xfrm>
          <a:prstGeom prst="roundRect">
            <a:avLst/>
          </a:prstGeom>
          <a:gradFill flip="none" rotWithShape="1">
            <a:gsLst>
              <a:gs pos="78000">
                <a:schemeClr val="bg1"/>
              </a:gs>
              <a:gs pos="29000">
                <a:schemeClr val="bg1">
                  <a:alpha val="100000"/>
                </a:schemeClr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427D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27D7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项目优势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427D7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: 圆角 6"/>
          <p:cNvSpPr/>
          <p:nvPr/>
        </p:nvSpPr>
        <p:spPr>
          <a:xfrm>
            <a:off x="4829005" y="265013"/>
            <a:ext cx="1152000" cy="360000"/>
          </a:xfrm>
          <a:prstGeom prst="roundRect">
            <a:avLst/>
          </a:prstGeom>
          <a:gradFill flip="none" rotWithShape="1">
            <a:gsLst>
              <a:gs pos="98000">
                <a:srgbClr val="36907E"/>
              </a:gs>
              <a:gs pos="16000">
                <a:srgbClr val="ABDACB">
                  <a:lumMod val="72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项目应用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: 圆角 6"/>
          <p:cNvSpPr/>
          <p:nvPr/>
        </p:nvSpPr>
        <p:spPr>
          <a:xfrm>
            <a:off x="6210995" y="265013"/>
            <a:ext cx="1152000" cy="360000"/>
          </a:xfrm>
          <a:prstGeom prst="roundRect">
            <a:avLst/>
          </a:prstGeom>
          <a:gradFill flip="none" rotWithShape="1">
            <a:gsLst>
              <a:gs pos="98000">
                <a:srgbClr val="36907E"/>
              </a:gs>
              <a:gs pos="16000">
                <a:srgbClr val="ABDACB">
                  <a:lumMod val="72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社会价值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3" name="矩形: 圆角 6"/>
          <p:cNvSpPr/>
          <p:nvPr/>
        </p:nvSpPr>
        <p:spPr>
          <a:xfrm>
            <a:off x="7592985" y="265013"/>
            <a:ext cx="1152000" cy="360000"/>
          </a:xfrm>
          <a:prstGeom prst="roundRect">
            <a:avLst/>
          </a:prstGeom>
          <a:gradFill flip="none" rotWithShape="1">
            <a:gsLst>
              <a:gs pos="98000">
                <a:srgbClr val="36907E"/>
              </a:gs>
              <a:gs pos="16000">
                <a:srgbClr val="ABDACB">
                  <a:lumMod val="72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商业模式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5" name="矩形: 圆角 6"/>
          <p:cNvSpPr/>
          <p:nvPr/>
        </p:nvSpPr>
        <p:spPr>
          <a:xfrm>
            <a:off x="8974975" y="265013"/>
            <a:ext cx="1152000" cy="360000"/>
          </a:xfrm>
          <a:prstGeom prst="roundRect">
            <a:avLst/>
          </a:prstGeom>
          <a:gradFill flip="none" rotWithShape="1">
            <a:gsLst>
              <a:gs pos="98000">
                <a:srgbClr val="36907E"/>
              </a:gs>
              <a:gs pos="16000">
                <a:srgbClr val="ABDACB">
                  <a:lumMod val="72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团队介绍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10356966" y="265013"/>
            <a:ext cx="1152000" cy="360000"/>
          </a:xfrm>
          <a:prstGeom prst="roundRect">
            <a:avLst/>
          </a:prstGeom>
          <a:gradFill flip="none" rotWithShape="1">
            <a:gsLst>
              <a:gs pos="98000">
                <a:srgbClr val="36907E"/>
              </a:gs>
              <a:gs pos="16000">
                <a:srgbClr val="ABDACB">
                  <a:lumMod val="72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未来展望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27" name="矩形: 圆角 6"/>
          <p:cNvSpPr/>
          <p:nvPr/>
        </p:nvSpPr>
        <p:spPr>
          <a:xfrm>
            <a:off x="78105" y="2523490"/>
            <a:ext cx="2026285" cy="271145"/>
          </a:xfrm>
          <a:prstGeom prst="roundRect">
            <a:avLst>
              <a:gd name="adj" fmla="val 0"/>
            </a:avLst>
          </a:prstGeom>
          <a:gradFill flip="none" rotWithShape="1">
            <a:gsLst>
              <a:gs pos="98000">
                <a:srgbClr val="36907E"/>
              </a:gs>
              <a:gs pos="16000">
                <a:srgbClr val="ABDACB">
                  <a:lumMod val="72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覆盖</a:t>
            </a:r>
            <a:r>
              <a:rPr lang="en-US" altLang="zh-CN" sz="1400" b="1" dirty="0">
                <a:gradFill>
                  <a:gsLst>
                    <a:gs pos="0">
                      <a:prstClr val="white"/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3500</a:t>
            </a:r>
            <a:r>
              <a:rPr lang="zh-CN" altLang="en-US" sz="1400" b="1" dirty="0">
                <a:gradFill>
                  <a:gsLst>
                    <a:gs pos="0">
                      <a:prstClr val="white"/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个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常用汉字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9184640" y="624840"/>
            <a:ext cx="3064510" cy="4023360"/>
            <a:chOff x="10833" y="1351"/>
            <a:chExt cx="7844" cy="9236"/>
          </a:xfrm>
        </p:grpSpPr>
        <p:grpSp>
          <p:nvGrpSpPr>
            <p:cNvPr id="28" name="组合 27"/>
            <p:cNvGrpSpPr/>
            <p:nvPr/>
          </p:nvGrpSpPr>
          <p:grpSpPr>
            <a:xfrm>
              <a:off x="10833" y="1351"/>
              <a:ext cx="7845" cy="9237"/>
              <a:chOff x="241113" y="1689270"/>
              <a:chExt cx="3796788" cy="4470401"/>
            </a:xfrm>
          </p:grpSpPr>
          <p:grpSp>
            <p:nvGrpSpPr>
              <p:cNvPr id="29" name="组合 28"/>
              <p:cNvGrpSpPr/>
              <p:nvPr/>
            </p:nvGrpSpPr>
            <p:grpSpPr>
              <a:xfrm>
                <a:off x="241113" y="1689270"/>
                <a:ext cx="3796788" cy="4470401"/>
                <a:chOff x="473762" y="1513205"/>
                <a:chExt cx="3796788" cy="4470401"/>
              </a:xfrm>
            </p:grpSpPr>
            <p:sp>
              <p:nvSpPr>
                <p:cNvPr id="31" name="矩形: 圆角 30"/>
                <p:cNvSpPr/>
                <p:nvPr/>
              </p:nvSpPr>
              <p:spPr>
                <a:xfrm>
                  <a:off x="613841" y="1513205"/>
                  <a:ext cx="3516630" cy="4423070"/>
                </a:xfrm>
                <a:prstGeom prst="roundRect">
                  <a:avLst>
                    <a:gd name="adj" fmla="val 2429"/>
                  </a:avLst>
                </a:prstGeom>
                <a:gradFill flip="none" rotWithShape="1">
                  <a:gsLst>
                    <a:gs pos="98000">
                      <a:srgbClr val="36907E"/>
                    </a:gs>
                    <a:gs pos="16000">
                      <a:srgbClr val="ABDACB">
                        <a:lumMod val="72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  <p:grpSp>
              <p:nvGrpSpPr>
                <p:cNvPr id="32" name="组合 31"/>
                <p:cNvGrpSpPr/>
                <p:nvPr/>
              </p:nvGrpSpPr>
              <p:grpSpPr>
                <a:xfrm>
                  <a:off x="1049134" y="1595120"/>
                  <a:ext cx="2646045" cy="1605915"/>
                  <a:chOff x="7719" y="-1149"/>
                  <a:chExt cx="4167" cy="2529"/>
                </a:xfrm>
              </p:grpSpPr>
              <p:sp>
                <p:nvSpPr>
                  <p:cNvPr id="36" name="椭圆 5" descr="D:\51PPT模板网\51pptmoban.com\图片.jpg"/>
                  <p:cNvSpPr/>
                  <p:nvPr>
                    <p:custDataLst>
                      <p:tags r:id="rId1"/>
                    </p:custDataLst>
                  </p:nvPr>
                </p:nvSpPr>
                <p:spPr>
                  <a:xfrm>
                    <a:off x="7719" y="-1016"/>
                    <a:ext cx="777" cy="777"/>
                  </a:xfrm>
                  <a:custGeom>
                    <a:avLst/>
                    <a:gdLst>
                      <a:gd name="connsiteX0" fmla="*/ 157638 w 338138"/>
                      <a:gd name="connsiteY0" fmla="*/ 144463 h 338138"/>
                      <a:gd name="connsiteX1" fmla="*/ 165544 w 338138"/>
                      <a:gd name="connsiteY1" fmla="*/ 148443 h 338138"/>
                      <a:gd name="connsiteX2" fmla="*/ 249865 w 338138"/>
                      <a:gd name="connsiteY2" fmla="*/ 233341 h 338138"/>
                      <a:gd name="connsiteX3" fmla="*/ 280167 w 338138"/>
                      <a:gd name="connsiteY3" fmla="*/ 232015 h 338138"/>
                      <a:gd name="connsiteX4" fmla="*/ 286755 w 338138"/>
                      <a:gd name="connsiteY4" fmla="*/ 234668 h 338138"/>
                      <a:gd name="connsiteX5" fmla="*/ 335503 w 338138"/>
                      <a:gd name="connsiteY5" fmla="*/ 283750 h 338138"/>
                      <a:gd name="connsiteX6" fmla="*/ 338138 w 338138"/>
                      <a:gd name="connsiteY6" fmla="*/ 293036 h 338138"/>
                      <a:gd name="connsiteX7" fmla="*/ 330233 w 338138"/>
                      <a:gd name="connsiteY7" fmla="*/ 298342 h 338138"/>
                      <a:gd name="connsiteX8" fmla="*/ 311788 w 338138"/>
                      <a:gd name="connsiteY8" fmla="*/ 303648 h 338138"/>
                      <a:gd name="connsiteX9" fmla="*/ 303883 w 338138"/>
                      <a:gd name="connsiteY9" fmla="*/ 310281 h 338138"/>
                      <a:gd name="connsiteX10" fmla="*/ 299930 w 338138"/>
                      <a:gd name="connsiteY10" fmla="*/ 331505 h 338138"/>
                      <a:gd name="connsiteX11" fmla="*/ 293343 w 338138"/>
                      <a:gd name="connsiteY11" fmla="*/ 338138 h 338138"/>
                      <a:gd name="connsiteX12" fmla="*/ 290708 w 338138"/>
                      <a:gd name="connsiteY12" fmla="*/ 338138 h 338138"/>
                      <a:gd name="connsiteX13" fmla="*/ 284120 w 338138"/>
                      <a:gd name="connsiteY13" fmla="*/ 335485 h 338138"/>
                      <a:gd name="connsiteX14" fmla="*/ 235372 w 338138"/>
                      <a:gd name="connsiteY14" fmla="*/ 286403 h 338138"/>
                      <a:gd name="connsiteX15" fmla="*/ 232737 w 338138"/>
                      <a:gd name="connsiteY15" fmla="*/ 279770 h 338138"/>
                      <a:gd name="connsiteX16" fmla="*/ 234054 w 338138"/>
                      <a:gd name="connsiteY16" fmla="*/ 249260 h 338138"/>
                      <a:gd name="connsiteX17" fmla="*/ 149733 w 338138"/>
                      <a:gd name="connsiteY17" fmla="*/ 164361 h 338138"/>
                      <a:gd name="connsiteX18" fmla="*/ 149733 w 338138"/>
                      <a:gd name="connsiteY18" fmla="*/ 148443 h 338138"/>
                      <a:gd name="connsiteX19" fmla="*/ 157638 w 338138"/>
                      <a:gd name="connsiteY19" fmla="*/ 144463 h 338138"/>
                      <a:gd name="connsiteX20" fmla="*/ 145922 w 338138"/>
                      <a:gd name="connsiteY20" fmla="*/ 120650 h 338138"/>
                      <a:gd name="connsiteX21" fmla="*/ 169863 w 338138"/>
                      <a:gd name="connsiteY21" fmla="*/ 137383 h 338138"/>
                      <a:gd name="connsiteX22" fmla="*/ 157893 w 338138"/>
                      <a:gd name="connsiteY22" fmla="*/ 133522 h 338138"/>
                      <a:gd name="connsiteX23" fmla="*/ 141931 w 338138"/>
                      <a:gd name="connsiteY23" fmla="*/ 141245 h 338138"/>
                      <a:gd name="connsiteX24" fmla="*/ 137941 w 338138"/>
                      <a:gd name="connsiteY24" fmla="*/ 168275 h 338138"/>
                      <a:gd name="connsiteX25" fmla="*/ 120650 w 338138"/>
                      <a:gd name="connsiteY25" fmla="*/ 145106 h 338138"/>
                      <a:gd name="connsiteX26" fmla="*/ 145922 w 338138"/>
                      <a:gd name="connsiteY26" fmla="*/ 120650 h 338138"/>
                      <a:gd name="connsiteX27" fmla="*/ 146051 w 338138"/>
                      <a:gd name="connsiteY27" fmla="*/ 60325 h 338138"/>
                      <a:gd name="connsiteX28" fmla="*/ 230188 w 338138"/>
                      <a:gd name="connsiteY28" fmla="*/ 145257 h 338138"/>
                      <a:gd name="connsiteX29" fmla="*/ 219671 w 338138"/>
                      <a:gd name="connsiteY29" fmla="*/ 186395 h 338138"/>
                      <a:gd name="connsiteX30" fmla="*/ 193378 w 338138"/>
                      <a:gd name="connsiteY30" fmla="*/ 161181 h 338138"/>
                      <a:gd name="connsiteX31" fmla="*/ 196007 w 338138"/>
                      <a:gd name="connsiteY31" fmla="*/ 145257 h 338138"/>
                      <a:gd name="connsiteX32" fmla="*/ 146051 w 338138"/>
                      <a:gd name="connsiteY32" fmla="*/ 94828 h 338138"/>
                      <a:gd name="connsiteX33" fmla="*/ 96094 w 338138"/>
                      <a:gd name="connsiteY33" fmla="*/ 145257 h 338138"/>
                      <a:gd name="connsiteX34" fmla="*/ 146051 w 338138"/>
                      <a:gd name="connsiteY34" fmla="*/ 195685 h 338138"/>
                      <a:gd name="connsiteX35" fmla="*/ 161827 w 338138"/>
                      <a:gd name="connsiteY35" fmla="*/ 193031 h 338138"/>
                      <a:gd name="connsiteX36" fmla="*/ 188119 w 338138"/>
                      <a:gd name="connsiteY36" fmla="*/ 219572 h 338138"/>
                      <a:gd name="connsiteX37" fmla="*/ 146051 w 338138"/>
                      <a:gd name="connsiteY37" fmla="*/ 230188 h 338138"/>
                      <a:gd name="connsiteX38" fmla="*/ 61913 w 338138"/>
                      <a:gd name="connsiteY38" fmla="*/ 145257 h 338138"/>
                      <a:gd name="connsiteX39" fmla="*/ 146051 w 338138"/>
                      <a:gd name="connsiteY39" fmla="*/ 60325 h 338138"/>
                      <a:gd name="connsiteX40" fmla="*/ 145257 w 338138"/>
                      <a:gd name="connsiteY40" fmla="*/ 0 h 338138"/>
                      <a:gd name="connsiteX41" fmla="*/ 290513 w 338138"/>
                      <a:gd name="connsiteY41" fmla="*/ 145257 h 338138"/>
                      <a:gd name="connsiteX42" fmla="*/ 269385 w 338138"/>
                      <a:gd name="connsiteY42" fmla="*/ 221846 h 338138"/>
                      <a:gd name="connsiteX43" fmla="*/ 254859 w 338138"/>
                      <a:gd name="connsiteY43" fmla="*/ 221846 h 338138"/>
                      <a:gd name="connsiteX44" fmla="*/ 239013 w 338138"/>
                      <a:gd name="connsiteY44" fmla="*/ 206000 h 338138"/>
                      <a:gd name="connsiteX45" fmla="*/ 256180 w 338138"/>
                      <a:gd name="connsiteY45" fmla="*/ 145257 h 338138"/>
                      <a:gd name="connsiteX46" fmla="*/ 145257 w 338138"/>
                      <a:gd name="connsiteY46" fmla="*/ 34333 h 338138"/>
                      <a:gd name="connsiteX47" fmla="*/ 34333 w 338138"/>
                      <a:gd name="connsiteY47" fmla="*/ 145257 h 338138"/>
                      <a:gd name="connsiteX48" fmla="*/ 145257 w 338138"/>
                      <a:gd name="connsiteY48" fmla="*/ 256180 h 338138"/>
                      <a:gd name="connsiteX49" fmla="*/ 206000 w 338138"/>
                      <a:gd name="connsiteY49" fmla="*/ 239013 h 338138"/>
                      <a:gd name="connsiteX50" fmla="*/ 221847 w 338138"/>
                      <a:gd name="connsiteY50" fmla="*/ 254859 h 338138"/>
                      <a:gd name="connsiteX51" fmla="*/ 221847 w 338138"/>
                      <a:gd name="connsiteY51" fmla="*/ 269385 h 338138"/>
                      <a:gd name="connsiteX52" fmla="*/ 145257 w 338138"/>
                      <a:gd name="connsiteY52" fmla="*/ 290513 h 338138"/>
                      <a:gd name="connsiteX53" fmla="*/ 0 w 338138"/>
                      <a:gd name="connsiteY53" fmla="*/ 145257 h 338138"/>
                      <a:gd name="connsiteX54" fmla="*/ 145257 w 338138"/>
                      <a:gd name="connsiteY54" fmla="*/ 0 h 3381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</a:cxnLst>
                    <a:rect l="l" t="t" r="r" b="b"/>
                    <a:pathLst>
                      <a:path w="338138" h="338138">
                        <a:moveTo>
                          <a:pt x="157638" y="144463"/>
                        </a:moveTo>
                        <a:cubicBezTo>
                          <a:pt x="160273" y="144463"/>
                          <a:pt x="162908" y="145790"/>
                          <a:pt x="165544" y="148443"/>
                        </a:cubicBezTo>
                        <a:cubicBezTo>
                          <a:pt x="165544" y="148443"/>
                          <a:pt x="165544" y="148443"/>
                          <a:pt x="249865" y="233341"/>
                        </a:cubicBezTo>
                        <a:cubicBezTo>
                          <a:pt x="249865" y="233341"/>
                          <a:pt x="249865" y="233341"/>
                          <a:pt x="280167" y="232015"/>
                        </a:cubicBezTo>
                        <a:cubicBezTo>
                          <a:pt x="282803" y="232015"/>
                          <a:pt x="285438" y="233341"/>
                          <a:pt x="286755" y="234668"/>
                        </a:cubicBezTo>
                        <a:cubicBezTo>
                          <a:pt x="286755" y="234668"/>
                          <a:pt x="286755" y="234668"/>
                          <a:pt x="335503" y="283750"/>
                        </a:cubicBezTo>
                        <a:cubicBezTo>
                          <a:pt x="338138" y="286403"/>
                          <a:pt x="338138" y="289056"/>
                          <a:pt x="338138" y="293036"/>
                        </a:cubicBezTo>
                        <a:cubicBezTo>
                          <a:pt x="336821" y="295689"/>
                          <a:pt x="334186" y="298342"/>
                          <a:pt x="330233" y="298342"/>
                        </a:cubicBezTo>
                        <a:cubicBezTo>
                          <a:pt x="330233" y="298342"/>
                          <a:pt x="330233" y="298342"/>
                          <a:pt x="311788" y="303648"/>
                        </a:cubicBezTo>
                        <a:cubicBezTo>
                          <a:pt x="307835" y="303648"/>
                          <a:pt x="305200" y="306301"/>
                          <a:pt x="303883" y="310281"/>
                        </a:cubicBezTo>
                        <a:cubicBezTo>
                          <a:pt x="303883" y="310281"/>
                          <a:pt x="303883" y="310281"/>
                          <a:pt x="299930" y="331505"/>
                        </a:cubicBezTo>
                        <a:cubicBezTo>
                          <a:pt x="298613" y="334158"/>
                          <a:pt x="295978" y="336812"/>
                          <a:pt x="293343" y="338138"/>
                        </a:cubicBezTo>
                        <a:cubicBezTo>
                          <a:pt x="292025" y="338138"/>
                          <a:pt x="292025" y="338138"/>
                          <a:pt x="290708" y="338138"/>
                        </a:cubicBezTo>
                        <a:cubicBezTo>
                          <a:pt x="288073" y="338138"/>
                          <a:pt x="285438" y="336812"/>
                          <a:pt x="284120" y="335485"/>
                        </a:cubicBezTo>
                        <a:cubicBezTo>
                          <a:pt x="284120" y="335485"/>
                          <a:pt x="284120" y="335485"/>
                          <a:pt x="235372" y="286403"/>
                        </a:cubicBezTo>
                        <a:cubicBezTo>
                          <a:pt x="232737" y="283750"/>
                          <a:pt x="232737" y="281097"/>
                          <a:pt x="232737" y="279770"/>
                        </a:cubicBezTo>
                        <a:cubicBezTo>
                          <a:pt x="232737" y="279770"/>
                          <a:pt x="232737" y="279770"/>
                          <a:pt x="234054" y="249260"/>
                        </a:cubicBezTo>
                        <a:cubicBezTo>
                          <a:pt x="234054" y="249260"/>
                          <a:pt x="234054" y="249260"/>
                          <a:pt x="149733" y="164361"/>
                        </a:cubicBezTo>
                        <a:cubicBezTo>
                          <a:pt x="144463" y="159055"/>
                          <a:pt x="144463" y="152422"/>
                          <a:pt x="149733" y="148443"/>
                        </a:cubicBezTo>
                        <a:cubicBezTo>
                          <a:pt x="151051" y="145790"/>
                          <a:pt x="155003" y="144463"/>
                          <a:pt x="157638" y="144463"/>
                        </a:cubicBezTo>
                        <a:close/>
                        <a:moveTo>
                          <a:pt x="145922" y="120650"/>
                        </a:moveTo>
                        <a:cubicBezTo>
                          <a:pt x="157893" y="120650"/>
                          <a:pt x="167203" y="128373"/>
                          <a:pt x="169863" y="137383"/>
                        </a:cubicBezTo>
                        <a:cubicBezTo>
                          <a:pt x="167203" y="134809"/>
                          <a:pt x="161883" y="133522"/>
                          <a:pt x="157893" y="133522"/>
                        </a:cubicBezTo>
                        <a:cubicBezTo>
                          <a:pt x="151242" y="133522"/>
                          <a:pt x="145922" y="136096"/>
                          <a:pt x="141931" y="141245"/>
                        </a:cubicBezTo>
                        <a:cubicBezTo>
                          <a:pt x="133951" y="147680"/>
                          <a:pt x="132620" y="160552"/>
                          <a:pt x="137941" y="168275"/>
                        </a:cubicBezTo>
                        <a:cubicBezTo>
                          <a:pt x="128630" y="165701"/>
                          <a:pt x="120650" y="156691"/>
                          <a:pt x="120650" y="145106"/>
                        </a:cubicBezTo>
                        <a:cubicBezTo>
                          <a:pt x="120650" y="132234"/>
                          <a:pt x="132620" y="120650"/>
                          <a:pt x="145922" y="120650"/>
                        </a:cubicBezTo>
                        <a:close/>
                        <a:moveTo>
                          <a:pt x="146051" y="60325"/>
                        </a:moveTo>
                        <a:cubicBezTo>
                          <a:pt x="192063" y="60325"/>
                          <a:pt x="230188" y="98810"/>
                          <a:pt x="230188" y="145257"/>
                        </a:cubicBezTo>
                        <a:cubicBezTo>
                          <a:pt x="230188" y="159854"/>
                          <a:pt x="226244" y="174452"/>
                          <a:pt x="219671" y="186395"/>
                        </a:cubicBezTo>
                        <a:lnTo>
                          <a:pt x="193378" y="161181"/>
                        </a:lnTo>
                        <a:cubicBezTo>
                          <a:pt x="196007" y="155873"/>
                          <a:pt x="196007" y="150565"/>
                          <a:pt x="196007" y="145257"/>
                        </a:cubicBezTo>
                        <a:cubicBezTo>
                          <a:pt x="196007" y="117388"/>
                          <a:pt x="173658" y="94828"/>
                          <a:pt x="146051" y="94828"/>
                        </a:cubicBezTo>
                        <a:cubicBezTo>
                          <a:pt x="118443" y="94828"/>
                          <a:pt x="96094" y="117388"/>
                          <a:pt x="96094" y="145257"/>
                        </a:cubicBezTo>
                        <a:cubicBezTo>
                          <a:pt x="96094" y="173125"/>
                          <a:pt x="118443" y="195685"/>
                          <a:pt x="146051" y="195685"/>
                        </a:cubicBezTo>
                        <a:cubicBezTo>
                          <a:pt x="151309" y="195685"/>
                          <a:pt x="156568" y="194358"/>
                          <a:pt x="161827" y="193031"/>
                        </a:cubicBezTo>
                        <a:cubicBezTo>
                          <a:pt x="161827" y="193031"/>
                          <a:pt x="161827" y="193031"/>
                          <a:pt x="188119" y="219572"/>
                        </a:cubicBezTo>
                        <a:cubicBezTo>
                          <a:pt x="174973" y="226207"/>
                          <a:pt x="161827" y="230188"/>
                          <a:pt x="146051" y="230188"/>
                        </a:cubicBezTo>
                        <a:cubicBezTo>
                          <a:pt x="100038" y="230188"/>
                          <a:pt x="61913" y="191703"/>
                          <a:pt x="61913" y="145257"/>
                        </a:cubicBezTo>
                        <a:cubicBezTo>
                          <a:pt x="61913" y="98810"/>
                          <a:pt x="100038" y="60325"/>
                          <a:pt x="146051" y="60325"/>
                        </a:cubicBezTo>
                        <a:close/>
                        <a:moveTo>
                          <a:pt x="145257" y="0"/>
                        </a:moveTo>
                        <a:cubicBezTo>
                          <a:pt x="225808" y="0"/>
                          <a:pt x="290513" y="64705"/>
                          <a:pt x="290513" y="145257"/>
                        </a:cubicBezTo>
                        <a:cubicBezTo>
                          <a:pt x="290513" y="172987"/>
                          <a:pt x="282590" y="199398"/>
                          <a:pt x="269385" y="221846"/>
                        </a:cubicBezTo>
                        <a:cubicBezTo>
                          <a:pt x="269385" y="221846"/>
                          <a:pt x="269385" y="221846"/>
                          <a:pt x="254859" y="221846"/>
                        </a:cubicBezTo>
                        <a:cubicBezTo>
                          <a:pt x="254859" y="221846"/>
                          <a:pt x="254859" y="221846"/>
                          <a:pt x="239013" y="206000"/>
                        </a:cubicBezTo>
                        <a:cubicBezTo>
                          <a:pt x="249577" y="188833"/>
                          <a:pt x="256180" y="167705"/>
                          <a:pt x="256180" y="145257"/>
                        </a:cubicBezTo>
                        <a:cubicBezTo>
                          <a:pt x="256180" y="84513"/>
                          <a:pt x="207321" y="34333"/>
                          <a:pt x="145257" y="34333"/>
                        </a:cubicBezTo>
                        <a:cubicBezTo>
                          <a:pt x="84513" y="34333"/>
                          <a:pt x="34333" y="84513"/>
                          <a:pt x="34333" y="145257"/>
                        </a:cubicBezTo>
                        <a:cubicBezTo>
                          <a:pt x="34333" y="207321"/>
                          <a:pt x="84513" y="256180"/>
                          <a:pt x="145257" y="256180"/>
                        </a:cubicBezTo>
                        <a:cubicBezTo>
                          <a:pt x="167705" y="256180"/>
                          <a:pt x="188834" y="249577"/>
                          <a:pt x="206000" y="239013"/>
                        </a:cubicBezTo>
                        <a:cubicBezTo>
                          <a:pt x="206000" y="239013"/>
                          <a:pt x="206000" y="239013"/>
                          <a:pt x="221847" y="254859"/>
                        </a:cubicBezTo>
                        <a:cubicBezTo>
                          <a:pt x="221847" y="254859"/>
                          <a:pt x="221847" y="254859"/>
                          <a:pt x="221847" y="269385"/>
                        </a:cubicBezTo>
                        <a:cubicBezTo>
                          <a:pt x="199398" y="282590"/>
                          <a:pt x="172988" y="290513"/>
                          <a:pt x="145257" y="290513"/>
                        </a:cubicBezTo>
                        <a:cubicBezTo>
                          <a:pt x="64705" y="290513"/>
                          <a:pt x="0" y="225808"/>
                          <a:pt x="0" y="145257"/>
                        </a:cubicBezTo>
                        <a:cubicBezTo>
                          <a:pt x="0" y="64705"/>
                          <a:pt x="64705" y="0"/>
                          <a:pt x="145257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solidFill>
                          <a:prstClr val="white"/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10600030101010101" charset="-122"/>
                      <a:ea typeface="等线" panose="02010600030101010101" charset="-122"/>
                      <a:cs typeface="+mn-cs"/>
                      <a:sym typeface="+mn-ea"/>
                    </a:endParaRPr>
                  </a:p>
                </p:txBody>
              </p:sp>
              <p:sp>
                <p:nvSpPr>
                  <p:cNvPr id="37" name="文本框 36"/>
                  <p:cNvSpPr txBox="1"/>
                  <p:nvPr>
                    <p:custDataLst>
                      <p:tags r:id="rId2"/>
                    </p:custDataLst>
                  </p:nvPr>
                </p:nvSpPr>
                <p:spPr>
                  <a:xfrm>
                    <a:off x="8695" y="-1149"/>
                    <a:ext cx="3191" cy="25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zh-CN"/>
                    </a:defPPr>
                    <a:lvl1pPr>
                      <a:defRPr sz="16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HarmonyOS Sans SC Light" panose="00000400000000000000" pitchFamily="2" charset="-122"/>
                        <a:ea typeface="阿里巴巴普惠体 2.0 55 Regular" panose="00020600040101010101" pitchFamily="18" charset="-122"/>
                        <a:cs typeface="阿里巴巴普惠体 2.0 55 Regular" panose="00020600040101010101" pitchFamily="18" charset="-122"/>
                      </a:defRPr>
                    </a:lvl1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4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阿里妈妈数黑体" pitchFamily="2" charset="-122"/>
                        <a:ea typeface="阿里妈妈数黑体" pitchFamily="2" charset="-122"/>
                        <a:cs typeface="+mn-cs"/>
                        <a:sym typeface="HarmonyOS Sans SC Light" panose="00000400000000000000" pitchFamily="2" charset="-122"/>
                      </a:rPr>
                      <a:t>软件著作</a:t>
                    </a:r>
                    <a:endParaRPr kumimoji="0" lang="zh-CN" altLang="en-US" sz="44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阿里妈妈数黑体" pitchFamily="2" charset="-122"/>
                      <a:ea typeface="阿里妈妈数黑体" pitchFamily="2" charset="-122"/>
                      <a:cs typeface="+mn-cs"/>
                      <a:sym typeface="HarmonyOS Sans SC Light" panose="00000400000000000000" pitchFamily="2" charset="-122"/>
                    </a:endParaRPr>
                  </a:p>
                </p:txBody>
              </p:sp>
            </p:grpSp>
            <p:sp>
              <p:nvSpPr>
                <p:cNvPr id="33" name="缺角矩形 32"/>
                <p:cNvSpPr/>
                <p:nvPr/>
              </p:nvSpPr>
              <p:spPr>
                <a:xfrm>
                  <a:off x="473762" y="3191560"/>
                  <a:ext cx="3796788" cy="2792046"/>
                </a:xfrm>
                <a:prstGeom prst="plaque">
                  <a:avLst>
                    <a:gd name="adj" fmla="val 3473"/>
                  </a:avLst>
                </a:prstGeom>
                <a:gradFill>
                  <a:gsLst>
                    <a:gs pos="0">
                      <a:schemeClr val="bg1"/>
                    </a:gs>
                    <a:gs pos="100000">
                      <a:srgbClr val="C7E7E5">
                        <a:lumMod val="38000"/>
                        <a:lumOff val="62000"/>
                      </a:srgbClr>
                    </a:gs>
                  </a:gsLst>
                  <a:lin ang="5400000" scaled="1"/>
                </a:gradFill>
                <a:ln>
                  <a:solidFill>
                    <a:srgbClr val="C7E7E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endParaRPr>
                </a:p>
              </p:txBody>
            </p:sp>
            <p:sp>
              <p:nvSpPr>
                <p:cNvPr id="34" name="文本框 33"/>
                <p:cNvSpPr txBox="1"/>
                <p:nvPr/>
              </p:nvSpPr>
              <p:spPr>
                <a:xfrm>
                  <a:off x="1174147" y="2407523"/>
                  <a:ext cx="2396015" cy="17425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设计</a:t>
                  </a:r>
                  <a:r>
                    <a:rPr lang="en-US" altLang="zh-CN" sz="2400" b="1" dirty="0">
                      <a:gradFill>
                        <a:gsLst>
                          <a:gs pos="0">
                            <a:prstClr val="white"/>
                          </a:gs>
                          <a:gs pos="100000">
                            <a:srgbClr val="FFC000"/>
                          </a:gs>
                        </a:gsLst>
                        <a:lin ang="5400000" scaled="1"/>
                      </a:gra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微软雅黑" panose="020B0503020204020204" charset="-122"/>
                      <a:ea typeface="微软雅黑" panose="020B0503020204020204" charset="-122"/>
                    </a:rPr>
                    <a:t>1</a:t>
                  </a:r>
                  <a:r>
                    <a:rPr lang="zh-CN" altLang="en-US" sz="2400" b="1" dirty="0">
                      <a:gradFill>
                        <a:gsLst>
                          <a:gs pos="0">
                            <a:prstClr val="white"/>
                          </a:gs>
                          <a:gs pos="100000">
                            <a:srgbClr val="FFC000"/>
                          </a:gs>
                        </a:gsLst>
                        <a:lin ang="5400000" scaled="1"/>
                      </a:gra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微软雅黑" panose="020B0503020204020204" charset="-122"/>
                      <a:ea typeface="微软雅黑" panose="020B0503020204020204" charset="-122"/>
                    </a:rPr>
                    <a:t>套</a:t>
                  </a:r>
                  <a:r>
                    <a:rPr kumimoji="0" lang="zh-CN" altLang="en-US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字源系联系统</a:t>
                  </a:r>
                  <a:endPara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部署</a:t>
                  </a:r>
                  <a:r>
                    <a:rPr lang="en-US" altLang="zh-CN" sz="2400" b="1" dirty="0">
                      <a:gradFill>
                        <a:gsLst>
                          <a:gs pos="0">
                            <a:prstClr val="white"/>
                          </a:gs>
                          <a:gs pos="100000">
                            <a:srgbClr val="FFC000"/>
                          </a:gs>
                        </a:gsLst>
                        <a:lin ang="5400000" scaled="1"/>
                      </a:gra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微软雅黑" panose="020B0503020204020204" charset="-122"/>
                      <a:ea typeface="微软雅黑" panose="020B0503020204020204" charset="-122"/>
                    </a:rPr>
                    <a:t>1</a:t>
                  </a:r>
                  <a:r>
                    <a:rPr lang="zh-CN" altLang="en-US" sz="2400" b="1" dirty="0">
                      <a:gradFill>
                        <a:gsLst>
                          <a:gs pos="0">
                            <a:prstClr val="white"/>
                          </a:gs>
                          <a:gs pos="100000">
                            <a:srgbClr val="FFC000"/>
                          </a:gs>
                        </a:gsLst>
                        <a:lin ang="5400000" scaled="1"/>
                      </a:gra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微软雅黑" panose="020B0503020204020204" charset="-122"/>
                      <a:ea typeface="微软雅黑" panose="020B0503020204020204" charset="-122"/>
                    </a:rPr>
                    <a:t>项</a:t>
                  </a:r>
                  <a:r>
                    <a:rPr kumimoji="0" lang="zh-CN" altLang="en-US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软件著作权</a:t>
                  </a:r>
                  <a:endPara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cxnSp>
            <p:nvCxnSpPr>
              <p:cNvPr id="30" name="直接连接符 29"/>
              <p:cNvCxnSpPr/>
              <p:nvPr/>
            </p:nvCxnSpPr>
            <p:spPr>
              <a:xfrm flipH="1">
                <a:off x="897528" y="2446470"/>
                <a:ext cx="2872195" cy="0"/>
              </a:xfrm>
              <a:prstGeom prst="line">
                <a:avLst/>
              </a:prstGeom>
              <a:ln w="19050" cap="rnd">
                <a:solidFill>
                  <a:srgbClr val="427D7C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8" name="图片 37"/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57" b="11115"/>
            <a:stretch>
              <a:fillRect/>
            </a:stretch>
          </p:blipFill>
          <p:spPr>
            <a:xfrm>
              <a:off x="12279" y="5945"/>
              <a:ext cx="6061" cy="4458"/>
            </a:xfrm>
            <a:prstGeom prst="rect">
              <a:avLst/>
            </a:prstGeom>
            <a:ln w="19050">
              <a:solidFill>
                <a:schemeClr val="bg1"/>
              </a:solidFill>
            </a:ln>
            <a:effectLst>
              <a:outerShdw blurRad="50800" dist="38100" dir="2700000" algn="tl" rotWithShape="0">
                <a:srgbClr val="439F98">
                  <a:alpha val="40000"/>
                </a:srgbClr>
              </a:outerShdw>
            </a:effectLst>
          </p:spPr>
        </p:pic>
      </p:grpSp>
      <p:grpSp>
        <p:nvGrpSpPr>
          <p:cNvPr id="22" name="组合 21"/>
          <p:cNvGrpSpPr/>
          <p:nvPr/>
        </p:nvGrpSpPr>
        <p:grpSpPr>
          <a:xfrm rot="0">
            <a:off x="6311265" y="2458085"/>
            <a:ext cx="2084070" cy="3980815"/>
            <a:chOff x="-4911261" y="1462224"/>
            <a:chExt cx="5005599" cy="10041873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4911261" y="1462224"/>
              <a:ext cx="4851258" cy="3032322"/>
            </a:xfrm>
            <a:prstGeom prst="rect">
              <a:avLst/>
            </a:prstGeom>
            <a:ln w="19050">
              <a:solidFill>
                <a:schemeClr val="bg1"/>
              </a:solidFill>
            </a:ln>
            <a:effectLst>
              <a:outerShdw blurRad="50800" dist="38100" dir="2700000" algn="tl" rotWithShape="0">
                <a:srgbClr val="439F98">
                  <a:alpha val="40000"/>
                </a:srgbClr>
              </a:outerShdw>
            </a:effectLst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5"/>
            <a:srcRect l="4305" t="6264" r="58394" b="16095"/>
            <a:stretch>
              <a:fillRect/>
            </a:stretch>
          </p:blipFill>
          <p:spPr>
            <a:xfrm>
              <a:off x="-4911261" y="5274183"/>
              <a:ext cx="5005599" cy="6229914"/>
            </a:xfrm>
            <a:prstGeom prst="rect">
              <a:avLst/>
            </a:prstGeom>
            <a:ln w="19050">
              <a:solidFill>
                <a:schemeClr val="bg1"/>
              </a:solidFill>
            </a:ln>
            <a:effectLst>
              <a:outerShdw blurRad="50800" dist="38100" dir="2700000" algn="tl" rotWithShape="0">
                <a:srgbClr val="439F98">
                  <a:alpha val="40000"/>
                </a:srgbClr>
              </a:outerShdw>
            </a:effectLst>
          </p:spPr>
        </p:pic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9205" y="4601845"/>
            <a:ext cx="1759585" cy="2289175"/>
          </a:xfrm>
          <a:prstGeom prst="rect">
            <a:avLst/>
          </a:prstGeom>
          <a:ln w="19050">
            <a:solidFill>
              <a:schemeClr val="bg1"/>
            </a:solidFill>
          </a:ln>
          <a:effectLst>
            <a:outerShdw blurRad="50800" dist="38100" dir="2700000" algn="tl" rotWithShape="0">
              <a:srgbClr val="439F98">
                <a:alpha val="40000"/>
              </a:srgbClr>
            </a:outerShdw>
          </a:effectLst>
        </p:spPr>
      </p:pic>
      <p:grpSp>
        <p:nvGrpSpPr>
          <p:cNvPr id="25" name="组合 24"/>
          <p:cNvGrpSpPr/>
          <p:nvPr/>
        </p:nvGrpSpPr>
        <p:grpSpPr>
          <a:xfrm rot="0">
            <a:off x="10356857" y="5056442"/>
            <a:ext cx="1327019" cy="140570"/>
            <a:chOff x="5740" y="4212"/>
            <a:chExt cx="4064" cy="417"/>
          </a:xfrm>
        </p:grpSpPr>
        <p:sp>
          <p:nvSpPr>
            <p:cNvPr id="2" name="矩形 1"/>
            <p:cNvSpPr/>
            <p:nvPr/>
          </p:nvSpPr>
          <p:spPr>
            <a:xfrm>
              <a:off x="5740" y="4280"/>
              <a:ext cx="2815" cy="175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915" y="4454"/>
              <a:ext cx="965" cy="175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9148" y="4212"/>
              <a:ext cx="656" cy="175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2371" y="4055174"/>
            <a:ext cx="590976" cy="568124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  <a:effectLst>
            <a:outerShdw blurRad="50800" dist="25400" dir="2700000" algn="tl" rotWithShape="0">
              <a:schemeClr val="accent2">
                <a:lumMod val="50000"/>
                <a:alpha val="20000"/>
              </a:schemeClr>
            </a:outerShdw>
          </a:effectLst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2485" y="4784725"/>
            <a:ext cx="601980" cy="568325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  <a:effectLst>
            <a:outerShdw blurRad="50800" dist="25400" dir="2700000" algn="tl" rotWithShape="0">
              <a:schemeClr val="accent2">
                <a:lumMod val="50000"/>
                <a:alpha val="20000"/>
              </a:schemeClr>
            </a:outerShdw>
          </a:effectLst>
        </p:spPr>
      </p:pic>
      <p:sp>
        <p:nvSpPr>
          <p:cNvPr id="20" name="文本框 19"/>
          <p:cNvSpPr txBox="1"/>
          <p:nvPr/>
        </p:nvSpPr>
        <p:spPr>
          <a:xfrm>
            <a:off x="8452535" y="3885409"/>
            <a:ext cx="32893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00" b="1" dirty="0">
                <a:latin typeface="微软雅黑" panose="020B0503020204020204" charset="-122"/>
                <a:ea typeface="微软雅黑" panose="020B0503020204020204" charset="-122"/>
              </a:rPr>
              <a:t>V1.0</a:t>
            </a:r>
            <a:endParaRPr lang="zh-CN" altLang="en-US" sz="5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452464" y="4645504"/>
            <a:ext cx="32893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00" b="1" dirty="0">
                <a:latin typeface="微软雅黑" panose="020B0503020204020204" charset="-122"/>
                <a:ea typeface="微软雅黑" panose="020B0503020204020204" charset="-122"/>
              </a:rPr>
              <a:t>V2.0</a:t>
            </a:r>
            <a:endParaRPr lang="zh-CN" altLang="en-US" sz="5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248285" y="1564640"/>
            <a:ext cx="2010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系统四阶段架构</a:t>
            </a:r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3149282" y="5596573"/>
            <a:ext cx="5080000" cy="371475"/>
          </a:xfrm>
          <a:prstGeom prst="rect">
            <a:avLst/>
          </a:prstGeom>
        </p:spPr>
        <p:txBody>
          <a:bodyPr>
            <a:spAutoFit/>
          </a:bodyPr>
          <a:p>
            <a:pPr defTabSz="26670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 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4202430" y="2421255"/>
            <a:ext cx="27311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形音义三维亲密度评分</a:t>
            </a:r>
            <a:endParaRPr lang="zh-CN" altLang="en-US" sz="1600"/>
          </a:p>
        </p:txBody>
      </p:sp>
      <p:grpSp>
        <p:nvGrpSpPr>
          <p:cNvPr id="107" name="组合 106"/>
          <p:cNvGrpSpPr/>
          <p:nvPr>
            <p:custDataLst>
              <p:tags r:id="rId9"/>
            </p:custDataLst>
          </p:nvPr>
        </p:nvGrpSpPr>
        <p:grpSpPr>
          <a:xfrm>
            <a:off x="59055" y="2749550"/>
            <a:ext cx="1989455" cy="2396490"/>
            <a:chOff x="3485" y="4258"/>
            <a:chExt cx="3133" cy="3774"/>
          </a:xfrm>
        </p:grpSpPr>
        <p:grpSp>
          <p:nvGrpSpPr>
            <p:cNvPr id="41" name="组合 40"/>
            <p:cNvGrpSpPr/>
            <p:nvPr/>
          </p:nvGrpSpPr>
          <p:grpSpPr>
            <a:xfrm rot="0">
              <a:off x="3485" y="4258"/>
              <a:ext cx="3099" cy="824"/>
              <a:chOff x="-365257" y="-6687973"/>
              <a:chExt cx="1927859" cy="1127980"/>
            </a:xfrm>
          </p:grpSpPr>
          <p:sp>
            <p:nvSpPr>
              <p:cNvPr id="42" name="矩形: 圆角 2"/>
              <p:cNvSpPr/>
              <p:nvPr>
                <p:custDataLst>
                  <p:tags r:id="rId10"/>
                </p:custDataLst>
              </p:nvPr>
            </p:nvSpPr>
            <p:spPr>
              <a:xfrm>
                <a:off x="-365257" y="-6573452"/>
                <a:ext cx="1927859" cy="1013459"/>
              </a:xfrm>
              <a:prstGeom prst="roundRect">
                <a:avLst>
                  <a:gd name="adj" fmla="val 2819"/>
                </a:avLst>
              </a:prstGeom>
              <a:gradFill>
                <a:gsLst>
                  <a:gs pos="0">
                    <a:schemeClr val="bg1"/>
                  </a:gs>
                  <a:gs pos="100000">
                    <a:srgbClr val="C7E7E5">
                      <a:lumMod val="38000"/>
                      <a:lumOff val="62000"/>
                    </a:srgbClr>
                  </a:gs>
                </a:gsLst>
                <a:lin ang="5400000" scaled="1"/>
              </a:gradFill>
              <a:ln>
                <a:solidFill>
                  <a:srgbClr val="C7E7E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43" name="文本框 42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-180119" y="-6687973"/>
                <a:ext cx="1435100" cy="1059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8025</a:t>
                </a:r>
                <a:endPara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收录汉字</a:t>
                </a:r>
                <a:endPara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70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 rot="0">
              <a:off x="3515" y="4994"/>
              <a:ext cx="3069" cy="783"/>
              <a:chOff x="739141" y="868681"/>
              <a:chExt cx="1927859" cy="1085436"/>
            </a:xfrm>
          </p:grpSpPr>
          <p:sp>
            <p:nvSpPr>
              <p:cNvPr id="45" name="矩形: 圆角 19"/>
              <p:cNvSpPr/>
              <p:nvPr>
                <p:custDataLst>
                  <p:tags r:id="rId12"/>
                </p:custDataLst>
              </p:nvPr>
            </p:nvSpPr>
            <p:spPr>
              <a:xfrm>
                <a:off x="739141" y="868681"/>
                <a:ext cx="1927859" cy="1013459"/>
              </a:xfrm>
              <a:prstGeom prst="roundRect">
                <a:avLst>
                  <a:gd name="adj" fmla="val 2819"/>
                </a:avLst>
              </a:prstGeom>
              <a:gradFill>
                <a:gsLst>
                  <a:gs pos="0">
                    <a:schemeClr val="bg1"/>
                  </a:gs>
                  <a:gs pos="100000">
                    <a:srgbClr val="C7E7E5">
                      <a:lumMod val="38000"/>
                      <a:lumOff val="62000"/>
                    </a:srgbClr>
                  </a:gs>
                </a:gsLst>
                <a:lin ang="5400000" scaled="1"/>
              </a:gradFill>
              <a:ln>
                <a:solidFill>
                  <a:srgbClr val="C7E7E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46" name="文本框 45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903494" y="881833"/>
                <a:ext cx="1435100" cy="10722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767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7527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576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字源标注</a:t>
                </a:r>
                <a:endPara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alpha val="70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59" name="组合 58"/>
            <p:cNvGrpSpPr/>
            <p:nvPr/>
          </p:nvGrpSpPr>
          <p:grpSpPr>
            <a:xfrm rot="0">
              <a:off x="3520" y="5692"/>
              <a:ext cx="3064" cy="779"/>
              <a:chOff x="-4468439" y="-4733058"/>
              <a:chExt cx="1927859" cy="1068949"/>
            </a:xfrm>
          </p:grpSpPr>
          <p:sp>
            <p:nvSpPr>
              <p:cNvPr id="60" name="矩形: 圆角 2"/>
              <p:cNvSpPr/>
              <p:nvPr>
                <p:custDataLst>
                  <p:tags r:id="rId14"/>
                </p:custDataLst>
              </p:nvPr>
            </p:nvSpPr>
            <p:spPr>
              <a:xfrm>
                <a:off x="-4468439" y="-4677568"/>
                <a:ext cx="1927859" cy="1013459"/>
              </a:xfrm>
              <a:prstGeom prst="roundRect">
                <a:avLst>
                  <a:gd name="adj" fmla="val 2819"/>
                </a:avLst>
              </a:prstGeom>
              <a:gradFill>
                <a:gsLst>
                  <a:gs pos="0">
                    <a:schemeClr val="bg1"/>
                  </a:gs>
                  <a:gs pos="100000">
                    <a:srgbClr val="C7E7E5">
                      <a:lumMod val="38000"/>
                      <a:lumOff val="62000"/>
                    </a:srgbClr>
                  </a:gs>
                </a:gsLst>
                <a:lin ang="5400000" scaled="1"/>
              </a:gradFill>
              <a:ln>
                <a:solidFill>
                  <a:srgbClr val="C7E7E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61" name="文本框 60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-4439114" y="-4733058"/>
                <a:ext cx="1748155" cy="1062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15621</a:t>
                </a:r>
                <a:endPara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字形图片</a:t>
                </a:r>
                <a:endPara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70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62" name="组合 61"/>
            <p:cNvGrpSpPr/>
            <p:nvPr/>
          </p:nvGrpSpPr>
          <p:grpSpPr>
            <a:xfrm rot="0">
              <a:off x="3515" y="6470"/>
              <a:ext cx="3070" cy="774"/>
              <a:chOff x="-6516782" y="-3664993"/>
              <a:chExt cx="1927859" cy="1062571"/>
            </a:xfrm>
          </p:grpSpPr>
          <p:sp>
            <p:nvSpPr>
              <p:cNvPr id="63" name="矩形: 圆角 19"/>
              <p:cNvSpPr/>
              <p:nvPr>
                <p:custDataLst>
                  <p:tags r:id="rId16"/>
                </p:custDataLst>
              </p:nvPr>
            </p:nvSpPr>
            <p:spPr>
              <a:xfrm>
                <a:off x="-6516782" y="-3664417"/>
                <a:ext cx="1927859" cy="1013459"/>
              </a:xfrm>
              <a:prstGeom prst="roundRect">
                <a:avLst>
                  <a:gd name="adj" fmla="val 2819"/>
                </a:avLst>
              </a:prstGeom>
              <a:gradFill>
                <a:gsLst>
                  <a:gs pos="0">
                    <a:schemeClr val="bg1"/>
                  </a:gs>
                  <a:gs pos="100000">
                    <a:srgbClr val="C7E7E5">
                      <a:lumMod val="38000"/>
                      <a:lumOff val="62000"/>
                    </a:srgbClr>
                  </a:gs>
                </a:gsLst>
                <a:lin ang="5400000" scaled="1"/>
              </a:gradFill>
              <a:ln>
                <a:solidFill>
                  <a:srgbClr val="C7E7E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64" name="文本框 63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-6495342" y="-3664993"/>
                <a:ext cx="1748155" cy="10625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767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30208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576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英文关键词</a:t>
                </a:r>
                <a:endPara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alpha val="70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 rot="0">
              <a:off x="3520" y="7208"/>
              <a:ext cx="3098" cy="824"/>
              <a:chOff x="1700633" y="84457"/>
              <a:chExt cx="1545590" cy="523239"/>
            </a:xfrm>
          </p:grpSpPr>
          <p:sp>
            <p:nvSpPr>
              <p:cNvPr id="67" name="矩形: 圆角 2"/>
              <p:cNvSpPr/>
              <p:nvPr>
                <p:custDataLst>
                  <p:tags r:id="rId18"/>
                </p:custDataLst>
              </p:nvPr>
            </p:nvSpPr>
            <p:spPr>
              <a:xfrm>
                <a:off x="1700633" y="84457"/>
                <a:ext cx="1523999" cy="456565"/>
              </a:xfrm>
              <a:prstGeom prst="roundRect">
                <a:avLst>
                  <a:gd name="adj" fmla="val 8208"/>
                </a:avLst>
              </a:prstGeom>
              <a:gradFill>
                <a:gsLst>
                  <a:gs pos="0">
                    <a:schemeClr val="bg1"/>
                  </a:gs>
                  <a:gs pos="100000">
                    <a:srgbClr val="C7E7E5">
                      <a:lumMod val="38000"/>
                      <a:lumOff val="62000"/>
                    </a:srgbClr>
                  </a:gs>
                </a:gsLst>
                <a:lin ang="5400000" scaled="1"/>
              </a:gradFill>
              <a:ln>
                <a:solidFill>
                  <a:srgbClr val="C7E7E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68" name="文本框 67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1700742" y="84457"/>
                <a:ext cx="1545481" cy="523239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207658</a:t>
                </a:r>
                <a:endPara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英汉词条</a:t>
                </a:r>
                <a:endPara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70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</p:grpSp>
      <p:grpSp>
        <p:nvGrpSpPr>
          <p:cNvPr id="89" name="组合 88"/>
          <p:cNvGrpSpPr/>
          <p:nvPr/>
        </p:nvGrpSpPr>
        <p:grpSpPr>
          <a:xfrm>
            <a:off x="4237822" y="2756353"/>
            <a:ext cx="2020570" cy="3042919"/>
            <a:chOff x="7278" y="7649"/>
            <a:chExt cx="3182" cy="4792"/>
          </a:xfrm>
        </p:grpSpPr>
        <p:grpSp>
          <p:nvGrpSpPr>
            <p:cNvPr id="75" name="组合 74"/>
            <p:cNvGrpSpPr/>
            <p:nvPr/>
          </p:nvGrpSpPr>
          <p:grpSpPr>
            <a:xfrm rot="0">
              <a:off x="7361" y="10843"/>
              <a:ext cx="3036" cy="1598"/>
              <a:chOff x="-2426967" y="699588"/>
              <a:chExt cx="1927961" cy="1014729"/>
            </a:xfrm>
          </p:grpSpPr>
          <p:sp>
            <p:nvSpPr>
              <p:cNvPr id="77" name="矩形: 圆角 2"/>
              <p:cNvSpPr/>
              <p:nvPr/>
            </p:nvSpPr>
            <p:spPr>
              <a:xfrm>
                <a:off x="-2426967" y="699771"/>
                <a:ext cx="1927859" cy="1013459"/>
              </a:xfrm>
              <a:prstGeom prst="roundRect">
                <a:avLst>
                  <a:gd name="adj" fmla="val 2819"/>
                </a:avLst>
              </a:prstGeom>
              <a:gradFill>
                <a:gsLst>
                  <a:gs pos="0">
                    <a:schemeClr val="bg1"/>
                  </a:gs>
                  <a:gs pos="100000">
                    <a:srgbClr val="C7E7E5">
                      <a:lumMod val="38000"/>
                      <a:lumOff val="62000"/>
                    </a:srgbClr>
                  </a:gs>
                </a:gsLst>
                <a:lin ang="5400000" scaled="1"/>
              </a:gradFill>
              <a:ln>
                <a:solidFill>
                  <a:srgbClr val="C7E7E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78" name="文本框 77"/>
              <p:cNvSpPr txBox="1"/>
              <p:nvPr/>
            </p:nvSpPr>
            <p:spPr>
              <a:xfrm>
                <a:off x="-2367175" y="699588"/>
                <a:ext cx="1868169" cy="10147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字义</a:t>
                </a:r>
                <a:endParaRPr kumimoji="0" lang="en-US" altLang="zh-CN" sz="40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同形旁 · 反义对</a:t>
                </a:r>
                <a:br>
                  <a: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</a:br>
                <a:r>
                  <a: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分化 · 同部首 · 构件包含</a:t>
                </a:r>
                <a:endPara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82" name="组合 81"/>
            <p:cNvGrpSpPr/>
            <p:nvPr/>
          </p:nvGrpSpPr>
          <p:grpSpPr>
            <a:xfrm>
              <a:off x="7278" y="7649"/>
              <a:ext cx="3182" cy="3194"/>
              <a:chOff x="1538709" y="-1322887"/>
              <a:chExt cx="2020570" cy="2028372"/>
            </a:xfrm>
          </p:grpSpPr>
          <p:grpSp>
            <p:nvGrpSpPr>
              <p:cNvPr id="83" name="组合 82"/>
              <p:cNvGrpSpPr/>
              <p:nvPr/>
            </p:nvGrpSpPr>
            <p:grpSpPr>
              <a:xfrm>
                <a:off x="1538709" y="-1322887"/>
                <a:ext cx="2020570" cy="1014912"/>
                <a:chOff x="1584429" y="-1315267"/>
                <a:chExt cx="2020570" cy="1014912"/>
              </a:xfrm>
            </p:grpSpPr>
            <p:sp>
              <p:nvSpPr>
                <p:cNvPr id="84" name="矩形: 圆角 2"/>
                <p:cNvSpPr/>
                <p:nvPr/>
              </p:nvSpPr>
              <p:spPr>
                <a:xfrm>
                  <a:off x="1637031" y="-1313814"/>
                  <a:ext cx="1927859" cy="1013459"/>
                </a:xfrm>
                <a:prstGeom prst="roundRect">
                  <a:avLst>
                    <a:gd name="adj" fmla="val 2819"/>
                  </a:avLst>
                </a:prstGeom>
                <a:gradFill>
                  <a:gsLst>
                    <a:gs pos="0">
                      <a:schemeClr val="bg1"/>
                    </a:gs>
                    <a:gs pos="100000">
                      <a:srgbClr val="C7E7E5">
                        <a:lumMod val="38000"/>
                        <a:lumOff val="62000"/>
                      </a:srgbClr>
                    </a:gs>
                  </a:gsLst>
                  <a:lin ang="5400000" scaled="1"/>
                </a:gradFill>
                <a:ln>
                  <a:solidFill>
                    <a:srgbClr val="C7E7E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endParaRPr>
                </a:p>
              </p:txBody>
            </p:sp>
            <p:sp>
              <p:nvSpPr>
                <p:cNvPr id="85" name="文本框 84"/>
                <p:cNvSpPr txBox="1"/>
                <p:nvPr/>
              </p:nvSpPr>
              <p:spPr>
                <a:xfrm>
                  <a:off x="1584429" y="-1315267"/>
                  <a:ext cx="2020570" cy="10147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字形</a:t>
                  </a:r>
                  <a:endParaRPr kumimoji="0" lang="en-US" altLang="zh-CN" sz="40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共享构件 · 同部首 · 同声旁</a:t>
                  </a:r>
                  <a:br>
                    <a:rPr kumimoji="0" lang="zh-CN" altLang="en-US" sz="12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</a:br>
                  <a:r>
                    <a:rPr kumimoji="0" lang="zh-CN" altLang="en-US" sz="12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分化关系 · 构件包含</a:t>
                  </a:r>
                  <a:endPara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86" name="组合 85"/>
              <p:cNvGrpSpPr/>
              <p:nvPr/>
            </p:nvGrpSpPr>
            <p:grpSpPr>
              <a:xfrm>
                <a:off x="1591311" y="-307974"/>
                <a:ext cx="1927859" cy="1013459"/>
                <a:chOff x="-389889" y="-300354"/>
                <a:chExt cx="1927859" cy="1013459"/>
              </a:xfrm>
            </p:grpSpPr>
            <p:sp>
              <p:nvSpPr>
                <p:cNvPr id="87" name="矩形: 圆角 19"/>
                <p:cNvSpPr/>
                <p:nvPr/>
              </p:nvSpPr>
              <p:spPr>
                <a:xfrm>
                  <a:off x="-389889" y="-300354"/>
                  <a:ext cx="1927859" cy="1013459"/>
                </a:xfrm>
                <a:prstGeom prst="roundRect">
                  <a:avLst>
                    <a:gd name="adj" fmla="val 2819"/>
                  </a:avLst>
                </a:prstGeom>
                <a:gradFill>
                  <a:gsLst>
                    <a:gs pos="0">
                      <a:schemeClr val="bg1"/>
                    </a:gs>
                    <a:gs pos="100000">
                      <a:srgbClr val="C7E7E5">
                        <a:lumMod val="38000"/>
                        <a:lumOff val="62000"/>
                      </a:srgbClr>
                    </a:gs>
                  </a:gsLst>
                  <a:lin ang="5400000" scaled="1"/>
                </a:gradFill>
                <a:ln>
                  <a:solidFill>
                    <a:srgbClr val="C7E7E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endParaRPr>
                </a:p>
              </p:txBody>
            </p:sp>
            <p:sp>
              <p:nvSpPr>
                <p:cNvPr id="88" name="文本框 87"/>
                <p:cNvSpPr txBox="1"/>
                <p:nvPr/>
              </p:nvSpPr>
              <p:spPr>
                <a:xfrm>
                  <a:off x="-215899" y="-300354"/>
                  <a:ext cx="1585595" cy="830580"/>
                </a:xfrm>
                <a:prstGeom prst="rect">
                  <a:avLst/>
                </a:prstGeom>
                <a:noFill/>
              </p:spPr>
              <p:txBody>
                <a:bodyPr wrap="none" rtlCol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5767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字音</a:t>
                  </a:r>
                  <a:endParaRPr kumimoji="0" lang="en-US" altLang="zh-CN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767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完全同音 </a:t>
                  </a:r>
                  <a:endPara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近音(同音节不同调) </a:t>
                  </a:r>
                  <a:endPara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</p:grpSp>
        </p:grpSp>
      </p:grpSp>
      <p:sp>
        <p:nvSpPr>
          <p:cNvPr id="108" name="矩形: 圆角 6"/>
          <p:cNvSpPr/>
          <p:nvPr/>
        </p:nvSpPr>
        <p:spPr>
          <a:xfrm>
            <a:off x="178435" y="1888490"/>
            <a:ext cx="1656715" cy="446405"/>
          </a:xfrm>
          <a:prstGeom prst="roundRect">
            <a:avLst/>
          </a:prstGeom>
          <a:gradFill flip="none" rotWithShape="1">
            <a:gsLst>
              <a:gs pos="98000">
                <a:srgbClr val="36907E"/>
              </a:gs>
              <a:gs pos="16000">
                <a:srgbClr val="ABDACB">
                  <a:lumMod val="72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311150" y="1889125"/>
            <a:ext cx="14020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索引构建</a:t>
            </a:r>
            <a:endParaRPr kumimoji="0" lang="en-US" altLang="zh-CN" sz="4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70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1" name="矩形: 圆角 6"/>
          <p:cNvSpPr/>
          <p:nvPr/>
        </p:nvSpPr>
        <p:spPr>
          <a:xfrm>
            <a:off x="2338070" y="1889125"/>
            <a:ext cx="1656715" cy="446405"/>
          </a:xfrm>
          <a:prstGeom prst="roundRect">
            <a:avLst/>
          </a:prstGeom>
          <a:gradFill flip="none" rotWithShape="1">
            <a:gsLst>
              <a:gs pos="98000">
                <a:srgbClr val="36907E"/>
              </a:gs>
              <a:gs pos="16000">
                <a:srgbClr val="ABDACB">
                  <a:lumMod val="72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9" name="矩形: 圆角 6"/>
          <p:cNvSpPr/>
          <p:nvPr/>
        </p:nvSpPr>
        <p:spPr>
          <a:xfrm>
            <a:off x="6311265" y="1903095"/>
            <a:ext cx="1656715" cy="446405"/>
          </a:xfrm>
          <a:prstGeom prst="roundRect">
            <a:avLst/>
          </a:prstGeom>
          <a:gradFill flip="none" rotWithShape="1">
            <a:gsLst>
              <a:gs pos="98000">
                <a:srgbClr val="36907E"/>
              </a:gs>
              <a:gs pos="16000">
                <a:srgbClr val="ABDACB">
                  <a:lumMod val="72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0" name="矩形: 圆角 6"/>
          <p:cNvSpPr/>
          <p:nvPr/>
        </p:nvSpPr>
        <p:spPr>
          <a:xfrm>
            <a:off x="4393565" y="1903095"/>
            <a:ext cx="1656715" cy="446405"/>
          </a:xfrm>
          <a:prstGeom prst="roundRect">
            <a:avLst/>
          </a:prstGeom>
          <a:gradFill flip="none" rotWithShape="1">
            <a:gsLst>
              <a:gs pos="98000">
                <a:srgbClr val="36907E"/>
              </a:gs>
              <a:gs pos="16000">
                <a:srgbClr val="ABDACB">
                  <a:lumMod val="72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2376805" y="1908810"/>
            <a:ext cx="14020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关系计算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rgbClr val="0057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70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97" name="组合 96"/>
          <p:cNvGrpSpPr/>
          <p:nvPr/>
        </p:nvGrpSpPr>
        <p:grpSpPr>
          <a:xfrm rot="0">
            <a:off x="4556230" y="1889309"/>
            <a:ext cx="3135629" cy="460375"/>
            <a:chOff x="965306" y="874213"/>
            <a:chExt cx="3135628" cy="844549"/>
          </a:xfrm>
        </p:grpSpPr>
        <p:sp>
          <p:nvSpPr>
            <p:cNvPr id="100" name="文本框 99"/>
            <p:cNvSpPr txBox="1"/>
            <p:nvPr/>
          </p:nvSpPr>
          <p:spPr>
            <a:xfrm>
              <a:off x="965306" y="874213"/>
              <a:ext cx="1402080" cy="844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三维评分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3003654" y="874213"/>
              <a:ext cx="1097280" cy="844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可视化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6" name="矩形: 圆角 6"/>
          <p:cNvSpPr/>
          <p:nvPr/>
        </p:nvSpPr>
        <p:spPr>
          <a:xfrm>
            <a:off x="10126980" y="6596380"/>
            <a:ext cx="1870075" cy="314325"/>
          </a:xfrm>
          <a:prstGeom prst="roundRect">
            <a:avLst>
              <a:gd name="adj" fmla="val 0"/>
            </a:avLst>
          </a:prstGeom>
          <a:gradFill flip="none" rotWithShape="1">
            <a:gsLst>
              <a:gs pos="98000">
                <a:srgbClr val="36907E"/>
              </a:gs>
              <a:gs pos="16000">
                <a:srgbClr val="ABDACB">
                  <a:lumMod val="72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黄昕恬作为项目</a:t>
            </a:r>
            <a:r>
              <a:rPr lang="zh-CN" altLang="en-US" sz="1200" b="1" dirty="0">
                <a:gradFill>
                  <a:gsLst>
                    <a:gs pos="0">
                      <a:prstClr val="white"/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核心成员</a:t>
            </a:r>
            <a:endParaRPr lang="zh-CN" altLang="en-US" sz="1200" b="1" dirty="0">
              <a:gradFill>
                <a:gsLst>
                  <a:gs pos="0">
                    <a:prstClr val="white"/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113" name="表格 112"/>
          <p:cNvGraphicFramePr/>
          <p:nvPr/>
        </p:nvGraphicFramePr>
        <p:xfrm>
          <a:off x="2243455" y="2669540"/>
          <a:ext cx="1751330" cy="2286000"/>
        </p:xfrm>
        <a:graphic>
          <a:graphicData uri="http://schemas.openxmlformats.org/drawingml/2006/table">
            <a:tbl>
              <a:tblPr/>
              <a:tblGrid>
                <a:gridCol w="610870"/>
                <a:gridCol w="1140460"/>
              </a:tblGrid>
              <a:tr h="228600">
                <a:tc>
                  <a:txBody>
                    <a:bodyPr/>
                    <a:p>
                      <a:pPr marL="0" indent="0" algn="ctr">
                        <a:lnSpc>
                          <a:spcPts val="13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优先级</a:t>
                      </a:r>
                      <a:endParaRPr lang="zh-CN" sz="9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DB79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3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关系类型</a:t>
                      </a:r>
                      <a:endParaRPr lang="zh-CN" sz="9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DB79B"/>
                    </a:solidFill>
                  </a:tcPr>
                </a:tc>
              </a:tr>
              <a:tr h="228600">
                <a:tc>
                  <a:txBody>
                    <a:bodyPr/>
                    <a:p>
                      <a:pPr marL="0" indent="0" algn="ctr">
                        <a:lnSpc>
                          <a:spcPts val="13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altLang="zh-CN" sz="900">
                          <a:latin typeface="微软雅黑" panose="020B0503020204020204" charset="-122"/>
                          <a:ea typeface="微软雅黑" panose="020B0503020204020204" charset="-122"/>
                        </a:rPr>
                        <a:t>P1</a:t>
                      </a:r>
                      <a:endParaRPr lang="en-US" altLang="zh-CN" sz="9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0E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3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900">
                          <a:latin typeface="微软雅黑" panose="020B0503020204020204" charset="-122"/>
                          <a:ea typeface="微软雅黑" panose="020B0503020204020204" charset="-122"/>
                        </a:rPr>
                        <a:t>源流分化</a:t>
                      </a:r>
                      <a:endParaRPr lang="zh-CN" sz="9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0EB"/>
                    </a:solidFill>
                  </a:tcPr>
                </a:tc>
              </a:tr>
              <a:tr h="228600">
                <a:tc>
                  <a:txBody>
                    <a:bodyPr/>
                    <a:p>
                      <a:pPr marL="0" indent="0" algn="ctr">
                        <a:lnSpc>
                          <a:spcPts val="13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altLang="zh-CN" sz="900">
                          <a:latin typeface="微软雅黑" panose="020B0503020204020204" charset="-122"/>
                          <a:ea typeface="微软雅黑" panose="020B0503020204020204" charset="-122"/>
                        </a:rPr>
                        <a:t>P1</a:t>
                      </a:r>
                      <a:endParaRPr lang="en-US" altLang="zh-CN" sz="9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3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900">
                          <a:latin typeface="微软雅黑" panose="020B0503020204020204" charset="-122"/>
                          <a:ea typeface="微软雅黑" panose="020B0503020204020204" charset="-122"/>
                        </a:rPr>
                        <a:t>反义对</a:t>
                      </a:r>
                      <a:endParaRPr lang="zh-CN" sz="9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p>
                      <a:pPr marL="0" indent="0" algn="ctr">
                        <a:lnSpc>
                          <a:spcPts val="13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altLang="zh-CN" sz="900">
                          <a:latin typeface="微软雅黑" panose="020B0503020204020204" charset="-122"/>
                          <a:ea typeface="微软雅黑" panose="020B0503020204020204" charset="-122"/>
                        </a:rPr>
                        <a:t>P2</a:t>
                      </a:r>
                      <a:endParaRPr lang="en-US" altLang="zh-CN" sz="9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0E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3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900">
                          <a:latin typeface="微软雅黑" panose="020B0503020204020204" charset="-122"/>
                          <a:ea typeface="微软雅黑" panose="020B0503020204020204" charset="-122"/>
                        </a:rPr>
                        <a:t>同声旁族</a:t>
                      </a:r>
                      <a:endParaRPr lang="zh-CN" sz="9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0EB"/>
                    </a:solidFill>
                  </a:tcPr>
                </a:tc>
              </a:tr>
              <a:tr h="228600">
                <a:tc>
                  <a:txBody>
                    <a:bodyPr/>
                    <a:p>
                      <a:pPr marL="0" indent="0" algn="ctr">
                        <a:lnSpc>
                          <a:spcPts val="13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altLang="zh-CN" sz="900">
                          <a:latin typeface="微软雅黑" panose="020B0503020204020204" charset="-122"/>
                          <a:ea typeface="微软雅黑" panose="020B0503020204020204" charset="-122"/>
                        </a:rPr>
                        <a:t>P2</a:t>
                      </a:r>
                      <a:endParaRPr lang="en-US" altLang="zh-CN" sz="9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3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900">
                          <a:latin typeface="微软雅黑" panose="020B0503020204020204" charset="-122"/>
                          <a:ea typeface="微软雅黑" panose="020B0503020204020204" charset="-122"/>
                        </a:rPr>
                        <a:t>同形旁族</a:t>
                      </a:r>
                      <a:endParaRPr lang="zh-CN" sz="9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p>
                      <a:pPr marL="0" indent="0" algn="ctr">
                        <a:lnSpc>
                          <a:spcPts val="13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altLang="zh-CN" sz="900">
                          <a:latin typeface="微软雅黑" panose="020B0503020204020204" charset="-122"/>
                          <a:ea typeface="微软雅黑" panose="020B0503020204020204" charset="-122"/>
                        </a:rPr>
                        <a:t>P2</a:t>
                      </a:r>
                      <a:endParaRPr lang="en-US" altLang="zh-CN" sz="9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0E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3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900">
                          <a:latin typeface="微软雅黑" panose="020B0503020204020204" charset="-122"/>
                          <a:ea typeface="微软雅黑" panose="020B0503020204020204" charset="-122"/>
                        </a:rPr>
                        <a:t>共享构件</a:t>
                      </a:r>
                      <a:endParaRPr lang="zh-CN" sz="9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0EB"/>
                    </a:solidFill>
                  </a:tcPr>
                </a:tc>
              </a:tr>
              <a:tr h="228600">
                <a:tc>
                  <a:txBody>
                    <a:bodyPr/>
                    <a:p>
                      <a:pPr marL="0" indent="0" algn="ctr">
                        <a:lnSpc>
                          <a:spcPts val="13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altLang="zh-CN" sz="900">
                          <a:latin typeface="微软雅黑" panose="020B0503020204020204" charset="-122"/>
                          <a:ea typeface="微软雅黑" panose="020B0503020204020204" charset="-122"/>
                        </a:rPr>
                        <a:t>P3</a:t>
                      </a:r>
                      <a:endParaRPr lang="en-US" altLang="zh-CN" sz="9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3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900">
                          <a:latin typeface="微软雅黑" panose="020B0503020204020204" charset="-122"/>
                          <a:ea typeface="微软雅黑" panose="020B0503020204020204" charset="-122"/>
                        </a:rPr>
                        <a:t>构件包含</a:t>
                      </a:r>
                      <a:endParaRPr lang="zh-CN" sz="9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p>
                      <a:pPr marL="0" indent="0" algn="ctr">
                        <a:lnSpc>
                          <a:spcPts val="13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altLang="zh-CN" sz="900">
                          <a:latin typeface="微软雅黑" panose="020B0503020204020204" charset="-122"/>
                          <a:ea typeface="微软雅黑" panose="020B0503020204020204" charset="-122"/>
                        </a:rPr>
                        <a:t>P3</a:t>
                      </a:r>
                      <a:endParaRPr lang="en-US" altLang="zh-CN" sz="9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0E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3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900">
                          <a:latin typeface="微软雅黑" panose="020B0503020204020204" charset="-122"/>
                          <a:ea typeface="微软雅黑" panose="020B0503020204020204" charset="-122"/>
                        </a:rPr>
                        <a:t>同音字</a:t>
                      </a:r>
                      <a:endParaRPr lang="zh-CN" sz="9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0EB"/>
                    </a:solidFill>
                  </a:tcPr>
                </a:tc>
              </a:tr>
              <a:tr h="228600">
                <a:tc>
                  <a:txBody>
                    <a:bodyPr/>
                    <a:p>
                      <a:pPr marL="0" indent="0" algn="ctr">
                        <a:lnSpc>
                          <a:spcPts val="13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altLang="zh-CN" sz="900">
                          <a:latin typeface="微软雅黑" panose="020B0503020204020204" charset="-122"/>
                          <a:ea typeface="微软雅黑" panose="020B0503020204020204" charset="-122"/>
                        </a:rPr>
                        <a:t>P3</a:t>
                      </a:r>
                      <a:endParaRPr lang="en-US" altLang="zh-CN" sz="9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3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900">
                          <a:latin typeface="微软雅黑" panose="020B0503020204020204" charset="-122"/>
                          <a:ea typeface="微软雅黑" panose="020B0503020204020204" charset="-122"/>
                        </a:rPr>
                        <a:t>近音字</a:t>
                      </a:r>
                      <a:endParaRPr lang="zh-CN" sz="9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p>
                      <a:pPr marL="0" indent="0" algn="ctr">
                        <a:lnSpc>
                          <a:spcPts val="13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altLang="zh-CN" sz="900">
                          <a:latin typeface="微软雅黑" panose="020B0503020204020204" charset="-122"/>
                          <a:ea typeface="微软雅黑" panose="020B0503020204020204" charset="-122"/>
                        </a:rPr>
                        <a:t>P4</a:t>
                      </a:r>
                      <a:endParaRPr lang="en-US" altLang="zh-CN" sz="9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0E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3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900">
                          <a:latin typeface="微软雅黑" panose="020B0503020204020204" charset="-122"/>
                          <a:ea typeface="微软雅黑" panose="020B0503020204020204" charset="-122"/>
                        </a:rPr>
                        <a:t>同部首族</a:t>
                      </a:r>
                      <a:endParaRPr lang="zh-CN" sz="9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0EB"/>
                    </a:solidFill>
                  </a:tcPr>
                </a:tc>
              </a:tr>
            </a:tbl>
          </a:graphicData>
        </a:graphic>
      </p:graphicFrame>
      <p:sp>
        <p:nvSpPr>
          <p:cNvPr id="115" name="文本框 114"/>
          <p:cNvSpPr txBox="1"/>
          <p:nvPr/>
        </p:nvSpPr>
        <p:spPr>
          <a:xfrm>
            <a:off x="99695" y="5552440"/>
            <a:ext cx="56470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我们定义了9种关系类型、4级优先级，通过互斥去重，构建了覆盖3500+汉字的多维系联网络。所有关系实时计算。每个汉字不再是孤立的符号，而是一个关系网络中的节点。</a:t>
            </a:r>
            <a:endParaRPr lang="zh-CN" altLang="en-US" sz="1600"/>
          </a:p>
        </p:txBody>
      </p:sp>
      <p:pic>
        <p:nvPicPr>
          <p:cNvPr id="116" name="图片 115"/>
          <p:cNvPicPr/>
          <p:nvPr/>
        </p:nvPicPr>
        <p:blipFill>
          <a:blip r:embed="rId2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65020" y="2749550"/>
            <a:ext cx="2593340" cy="2602865"/>
          </a:xfrm>
          <a:prstGeom prst="rect">
            <a:avLst/>
          </a:prstGeom>
        </p:spPr>
      </p:pic>
      <p:sp>
        <p:nvSpPr>
          <p:cNvPr id="117" name="文本框 116"/>
          <p:cNvSpPr txBox="1"/>
          <p:nvPr/>
        </p:nvSpPr>
        <p:spPr>
          <a:xfrm>
            <a:off x="2225040" y="2421890"/>
            <a:ext cx="20656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九种关系 × 四级优先级</a:t>
            </a:r>
            <a:endParaRPr lang="zh-CN" alt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/>
          <p:cNvSpPr/>
          <p:nvPr/>
        </p:nvSpPr>
        <p:spPr>
          <a:xfrm>
            <a:off x="2065025" y="265013"/>
            <a:ext cx="1152000" cy="360000"/>
          </a:xfrm>
          <a:prstGeom prst="roundRect">
            <a:avLst/>
          </a:prstGeom>
          <a:gradFill flip="none" rotWithShape="1">
            <a:gsLst>
              <a:gs pos="98000">
                <a:srgbClr val="36907E"/>
              </a:gs>
              <a:gs pos="16000">
                <a:srgbClr val="ABDACB">
                  <a:lumMod val="72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项目概述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683035" y="265013"/>
            <a:ext cx="1152000" cy="360000"/>
          </a:xfrm>
          <a:prstGeom prst="roundRect">
            <a:avLst/>
          </a:prstGeom>
          <a:gradFill flip="none" rotWithShape="1">
            <a:gsLst>
              <a:gs pos="98000">
                <a:srgbClr val="36907E"/>
              </a:gs>
              <a:gs pos="16000">
                <a:srgbClr val="ABDACB">
                  <a:lumMod val="72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项目背景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3447015" y="265013"/>
            <a:ext cx="1152000" cy="360000"/>
          </a:xfrm>
          <a:prstGeom prst="roundRect">
            <a:avLst/>
          </a:prstGeom>
          <a:gradFill flip="none" rotWithShape="1">
            <a:gsLst>
              <a:gs pos="78000">
                <a:schemeClr val="bg1"/>
              </a:gs>
              <a:gs pos="29000">
                <a:schemeClr val="bg1">
                  <a:alpha val="100000"/>
                </a:schemeClr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427D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27D7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项目优势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427D7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6" name="矩形: 圆角 6"/>
          <p:cNvSpPr/>
          <p:nvPr/>
        </p:nvSpPr>
        <p:spPr>
          <a:xfrm>
            <a:off x="4829005" y="265013"/>
            <a:ext cx="1152000" cy="360000"/>
          </a:xfrm>
          <a:prstGeom prst="roundRect">
            <a:avLst/>
          </a:prstGeom>
          <a:gradFill flip="none" rotWithShape="1">
            <a:gsLst>
              <a:gs pos="98000">
                <a:srgbClr val="36907E"/>
              </a:gs>
              <a:gs pos="16000">
                <a:srgbClr val="ABDACB">
                  <a:lumMod val="72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项目应用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8" name="矩形: 圆角 6"/>
          <p:cNvSpPr/>
          <p:nvPr/>
        </p:nvSpPr>
        <p:spPr>
          <a:xfrm>
            <a:off x="6210995" y="265013"/>
            <a:ext cx="1152000" cy="360000"/>
          </a:xfrm>
          <a:prstGeom prst="roundRect">
            <a:avLst/>
          </a:prstGeom>
          <a:gradFill flip="none" rotWithShape="1">
            <a:gsLst>
              <a:gs pos="98000">
                <a:srgbClr val="36907E"/>
              </a:gs>
              <a:gs pos="16000">
                <a:srgbClr val="ABDACB">
                  <a:lumMod val="72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社会价值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20" name="矩形: 圆角 6"/>
          <p:cNvSpPr/>
          <p:nvPr/>
        </p:nvSpPr>
        <p:spPr>
          <a:xfrm>
            <a:off x="7592985" y="265013"/>
            <a:ext cx="1152000" cy="360000"/>
          </a:xfrm>
          <a:prstGeom prst="roundRect">
            <a:avLst/>
          </a:prstGeom>
          <a:gradFill flip="none" rotWithShape="1">
            <a:gsLst>
              <a:gs pos="98000">
                <a:srgbClr val="36907E"/>
              </a:gs>
              <a:gs pos="16000">
                <a:srgbClr val="ABDACB">
                  <a:lumMod val="72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商业模式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21" name="矩形: 圆角 6"/>
          <p:cNvSpPr/>
          <p:nvPr/>
        </p:nvSpPr>
        <p:spPr>
          <a:xfrm>
            <a:off x="8974975" y="265013"/>
            <a:ext cx="1152000" cy="360000"/>
          </a:xfrm>
          <a:prstGeom prst="roundRect">
            <a:avLst/>
          </a:prstGeom>
          <a:gradFill flip="none" rotWithShape="1">
            <a:gsLst>
              <a:gs pos="98000">
                <a:srgbClr val="36907E"/>
              </a:gs>
              <a:gs pos="16000">
                <a:srgbClr val="ABDACB">
                  <a:lumMod val="72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团队介绍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10356966" y="265013"/>
            <a:ext cx="1152000" cy="360000"/>
          </a:xfrm>
          <a:prstGeom prst="roundRect">
            <a:avLst/>
          </a:prstGeom>
          <a:gradFill flip="none" rotWithShape="1">
            <a:gsLst>
              <a:gs pos="98000">
                <a:srgbClr val="36907E"/>
              </a:gs>
              <a:gs pos="16000">
                <a:srgbClr val="ABDACB">
                  <a:lumMod val="72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未来展望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578388" y="794386"/>
            <a:ext cx="6241511" cy="830997"/>
            <a:chOff x="578389" y="794386"/>
            <a:chExt cx="5909419" cy="830997"/>
          </a:xfrm>
        </p:grpSpPr>
        <p:sp>
          <p:nvSpPr>
            <p:cNvPr id="28" name="矩形: 圆角 27"/>
            <p:cNvSpPr/>
            <p:nvPr/>
          </p:nvSpPr>
          <p:spPr>
            <a:xfrm>
              <a:off x="578389" y="794386"/>
              <a:ext cx="5909419" cy="830997"/>
            </a:xfrm>
            <a:prstGeom prst="roundRect">
              <a:avLst>
                <a:gd name="adj" fmla="val 2819"/>
              </a:avLst>
            </a:prstGeom>
            <a:gradFill>
              <a:gsLst>
                <a:gs pos="0">
                  <a:schemeClr val="bg1"/>
                </a:gs>
                <a:gs pos="100000">
                  <a:srgbClr val="C7E7E5">
                    <a:lumMod val="38000"/>
                    <a:lumOff val="62000"/>
                  </a:srgbClr>
                </a:gs>
              </a:gsLst>
              <a:lin ang="5400000" scaled="1"/>
            </a:gradFill>
            <a:ln>
              <a:solidFill>
                <a:srgbClr val="C7E7E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743569" y="857886"/>
              <a:ext cx="478868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05767"/>
                  </a:solidFill>
                  <a:latin typeface="微软雅黑" panose="020B0503020204020204" charset="-122"/>
                  <a:ea typeface="微软雅黑" panose="020B0503020204020204" charset="-122"/>
                </a:rPr>
                <a:t>核心技术</a:t>
              </a:r>
              <a:r>
                <a:rPr lang="en-US" altLang="zh-CN" sz="2000" b="1" dirty="0">
                  <a:solidFill>
                    <a:srgbClr val="005767"/>
                  </a:solidFill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endParaRPr lang="en-US" altLang="zh-CN" sz="2000" b="1" dirty="0">
                <a:solidFill>
                  <a:srgbClr val="005767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zh-CN" altLang="en-US" sz="2000" b="1" dirty="0">
                  <a:solidFill>
                    <a:srgbClr val="005767"/>
                  </a:solidFill>
                  <a:latin typeface="微软雅黑" panose="020B0503020204020204" charset="-122"/>
                  <a:ea typeface="微软雅黑" panose="020B0503020204020204" charset="-122"/>
                </a:rPr>
                <a:t>多语文化故事创编技术：基于自然语言处理</a:t>
              </a:r>
              <a:endParaRPr lang="zh-CN" altLang="en-US" sz="2000" b="1" dirty="0">
                <a:solidFill>
                  <a:srgbClr val="005767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54" name="图片 53"/>
          <p:cNvPicPr>
            <a:picLocks noChangeAspect="1"/>
          </p:cNvPicPr>
          <p:nvPr/>
        </p:nvPicPr>
        <p:blipFill>
          <a:blip r:embed="rId1"/>
          <a:srcRect b="22740"/>
          <a:stretch>
            <a:fillRect/>
          </a:stretch>
        </p:blipFill>
        <p:spPr>
          <a:xfrm>
            <a:off x="598713" y="3614738"/>
            <a:ext cx="3125886" cy="2967810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425" y="1699011"/>
            <a:ext cx="2990849" cy="4883537"/>
          </a:xfrm>
          <a:prstGeom prst="rect">
            <a:avLst/>
          </a:prstGeom>
        </p:spPr>
      </p:pic>
      <p:grpSp>
        <p:nvGrpSpPr>
          <p:cNvPr id="56" name="组合 55"/>
          <p:cNvGrpSpPr/>
          <p:nvPr/>
        </p:nvGrpSpPr>
        <p:grpSpPr>
          <a:xfrm>
            <a:off x="598713" y="1699011"/>
            <a:ext cx="3130423" cy="1915727"/>
            <a:chOff x="598713" y="1699011"/>
            <a:chExt cx="3130423" cy="1915727"/>
          </a:xfrm>
        </p:grpSpPr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8713" y="1699011"/>
              <a:ext cx="3130423" cy="1915727"/>
            </a:xfrm>
            <a:prstGeom prst="rect">
              <a:avLst/>
            </a:prstGeom>
          </p:spPr>
        </p:pic>
        <p:sp>
          <p:nvSpPr>
            <p:cNvPr id="53" name="矩形: 圆角 6"/>
            <p:cNvSpPr/>
            <p:nvPr/>
          </p:nvSpPr>
          <p:spPr>
            <a:xfrm>
              <a:off x="603250" y="3254738"/>
              <a:ext cx="3125886" cy="36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98000">
                  <a:srgbClr val="36907E"/>
                </a:gs>
                <a:gs pos="16000">
                  <a:srgbClr val="ABDACB">
                    <a:lumMod val="72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zh-CN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多语种智能对话体后台</a:t>
              </a:r>
              <a:endPara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57" name="矩形: 圆角 6"/>
          <p:cNvSpPr/>
          <p:nvPr/>
        </p:nvSpPr>
        <p:spPr>
          <a:xfrm>
            <a:off x="598713" y="6216522"/>
            <a:ext cx="3125886" cy="360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98000">
                <a:srgbClr val="36907E"/>
              </a:gs>
              <a:gs pos="16000">
                <a:srgbClr val="ABDACB">
                  <a:lumMod val="72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用户对话及回复</a:t>
            </a:r>
            <a:endParaRPr lang="zh-CN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8" name="矩形: 圆角 6"/>
          <p:cNvSpPr/>
          <p:nvPr/>
        </p:nvSpPr>
        <p:spPr>
          <a:xfrm>
            <a:off x="3781425" y="6222548"/>
            <a:ext cx="2990849" cy="360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98000">
                <a:srgbClr val="36907E"/>
              </a:gs>
              <a:gs pos="16000">
                <a:srgbClr val="ABDACB">
                  <a:lumMod val="72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用户对话及回复</a:t>
            </a:r>
            <a:endParaRPr lang="zh-CN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" name="图片 1"/>
          <p:cNvPicPr/>
          <p:nvPr/>
        </p:nvPicPr>
        <p:blipFill>
          <a:blip r:embed="rId4"/>
          <a:stretch>
            <a:fillRect/>
          </a:stretch>
        </p:blipFill>
        <p:spPr>
          <a:xfrm>
            <a:off x="6909435" y="1358900"/>
            <a:ext cx="2621280" cy="1572895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5"/>
          <a:stretch>
            <a:fillRect/>
          </a:stretch>
        </p:blipFill>
        <p:spPr>
          <a:xfrm>
            <a:off x="9530715" y="1358900"/>
            <a:ext cx="2553970" cy="1573530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6"/>
          <a:stretch>
            <a:fillRect/>
          </a:stretch>
        </p:blipFill>
        <p:spPr>
          <a:xfrm>
            <a:off x="6910070" y="2931795"/>
            <a:ext cx="2569845" cy="18434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362825" y="975995"/>
            <a:ext cx="5018405" cy="472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自适应拼拆游戏引擎：基于</a:t>
            </a:r>
            <a:r>
              <a:rPr lang="zh-CN" altLang="en-US"/>
              <a:t>字理逻辑</a:t>
            </a:r>
            <a:endParaRPr lang="zh-CN" altLang="en-US"/>
          </a:p>
        </p:txBody>
      </p:sp>
      <p:pic>
        <p:nvPicPr>
          <p:cNvPr id="6" name="图片 5"/>
          <p:cNvPicPr/>
          <p:nvPr/>
        </p:nvPicPr>
        <p:blipFill>
          <a:blip r:embed="rId7"/>
          <a:stretch>
            <a:fillRect/>
          </a:stretch>
        </p:blipFill>
        <p:spPr>
          <a:xfrm>
            <a:off x="9479915" y="2931160"/>
            <a:ext cx="2647950" cy="184404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998970" y="4917440"/>
            <a:ext cx="5016500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我们把前两个技术的成果转化为两类智能交互体验：</a:t>
            </a:r>
            <a:endParaRPr lang="zh-CN" altLang="en-US" sz="1400"/>
          </a:p>
          <a:p>
            <a:r>
              <a:rPr lang="en-US" altLang="zh-CN" sz="1400"/>
              <a:t>  </a:t>
            </a:r>
            <a:r>
              <a:rPr lang="zh-CN" altLang="en-US" sz="1400"/>
              <a:t>第一类是基于自然语言的情境编创对话——系统理解汉字的结构和含义后，自动生成符合字理的教学情境故事；</a:t>
            </a:r>
            <a:endParaRPr lang="zh-CN" altLang="en-US" sz="1400"/>
          </a:p>
          <a:p>
            <a:r>
              <a:rPr lang="en-US" altLang="zh-CN" sz="1400"/>
              <a:t>  </a:t>
            </a:r>
            <a:r>
              <a:rPr lang="zh-CN" altLang="en-US" sz="1400"/>
              <a:t>第二类是基于字理逻辑的自适应拼拆游戏——系统根据知识图谱自动生成拆字、拼字、连连看三种题型的游戏</a:t>
            </a:r>
            <a:endParaRPr lang="zh-CN" altLang="en-US" sz="1400"/>
          </a:p>
          <a:p>
            <a:r>
              <a:rPr lang="zh-CN" altLang="en-US" sz="1400"/>
              <a:t>二者底层共用同一个知识图谱引擎，体现了我们技术架构的系统性和复用性。</a:t>
            </a:r>
            <a:endParaRPr lang="zh-CN" altLang="en-US" sz="14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0.92858267716534,&quot;left&quot;:83.12503937007874,&quot;top&quot;:111.92866141732284,&quot;width&quot;:793.75}"/>
</p:tagLst>
</file>

<file path=ppt/tags/tag2.xml><?xml version="1.0" encoding="utf-8"?>
<p:tagLst xmlns:p="http://schemas.openxmlformats.org/presentationml/2006/main">
  <p:tag name="KSO_WM_DIAGRAM_VIRTUALLY_FRAME" val="{&quot;height&quot;:230.92858267716534,&quot;left&quot;:83.12503937007874,&quot;top&quot;:111.92866141732284,&quot;width&quot;:793.75}"/>
</p:tagLst>
</file>

<file path=ppt/tags/tag3.xml><?xml version="1.0" encoding="utf-8"?>
<p:tagLst xmlns:p="http://schemas.openxmlformats.org/presentationml/2006/main">
  <p:tag name="KSO_WM_DIAGRAM_VIRTUALLY_FRAME" val="{&quot;height&quot;:230.92858267716534,&quot;left&quot;:83.12503937007874,&quot;top&quot;:111.92866141732284,&quot;width&quot;:793.75}"/>
</p:tagLst>
</file>

<file path=ppt/tags/tag4.xml><?xml version="1.0" encoding="utf-8"?>
<p:tagLst xmlns:p="http://schemas.openxmlformats.org/presentationml/2006/main">
  <p:tag name="KSO_WM_DIAGRAM_VIRTUALLY_FRAME" val="{&quot;height&quot;:230.92858267716534,&quot;left&quot;:83.12503937007874,&quot;top&quot;:111.92866141732284,&quot;width&quot;:793.75}"/>
</p:tagLst>
</file>

<file path=ppt/tags/tag5.xml><?xml version="1.0" encoding="utf-8"?>
<p:tagLst xmlns:p="http://schemas.openxmlformats.org/presentationml/2006/main">
  <p:tag name="KSO_WM_DIAGRAM_VIRTUALLY_FRAME" val="{&quot;height&quot;:188.7,&quot;left&quot;:4.65,&quot;top&quot;:216.5,&quot;width&quot;:156.65}"/>
</p:tagLst>
</file>

<file path=ppt/tags/tag6.xml><?xml version="1.0" encoding="utf-8"?>
<p:tagLst xmlns:p="http://schemas.openxmlformats.org/presentationml/2006/main">
  <p:tag name="KSO_WM_DIAGRAM_VIRTUALLY_FRAME" val="{&quot;height&quot;:188.7,&quot;left&quot;:4.65,&quot;top&quot;:216.5,&quot;width&quot;:156.65}"/>
</p:tagLst>
</file>

<file path=ppt/tags/tag7.xml><?xml version="1.0" encoding="utf-8"?>
<p:tagLst xmlns:p="http://schemas.openxmlformats.org/presentationml/2006/main">
  <p:tag name="KSO_WM_DIAGRAM_VIRTUALLY_FRAME" val="{&quot;height&quot;:188.7,&quot;left&quot;:4.65,&quot;top&quot;:216.5,&quot;width&quot;:156.65}"/>
</p:tagLst>
</file>

<file path=ppt/tags/tag8.xml><?xml version="1.0" encoding="utf-8"?>
<p:tagLst xmlns:p="http://schemas.openxmlformats.org/presentationml/2006/main">
  <p:tag name="KSO_WM_DIAGRAM_VIRTUALLY_FRAME" val="{&quot;height&quot;:188.7,&quot;left&quot;:4.65,&quot;top&quot;:216.5,&quot;width&quot;:156.65}"/>
</p:tagLst>
</file>

<file path=ppt/tags/tag9.xml><?xml version="1.0" encoding="utf-8"?>
<p:tagLst xmlns:p="http://schemas.openxmlformats.org/presentationml/2006/main">
  <p:tag name="KSO_WM_DIAGRAM_VIRTUALLY_FRAME" val="{&quot;height&quot;:188.7,&quot;left&quot;:4.65,&quot;top&quot;:216.5,&quot;width&quot;:156.65}"/>
</p:tagLst>
</file>

<file path=ppt/tags/tag10.xml><?xml version="1.0" encoding="utf-8"?>
<p:tagLst xmlns:p="http://schemas.openxmlformats.org/presentationml/2006/main">
  <p:tag name="KSO_WM_DIAGRAM_VIRTUALLY_FRAME" val="{&quot;height&quot;:188.7,&quot;left&quot;:4.65,&quot;top&quot;:216.5,&quot;width&quot;:156.65}"/>
</p:tagLst>
</file>

<file path=ppt/tags/tag11.xml><?xml version="1.0" encoding="utf-8"?>
<p:tagLst xmlns:p="http://schemas.openxmlformats.org/presentationml/2006/main">
  <p:tag name="KSO_WM_DIAGRAM_VIRTUALLY_FRAME" val="{&quot;height&quot;:188.7,&quot;left&quot;:4.65,&quot;top&quot;:216.5,&quot;width&quot;:156.65}"/>
</p:tagLst>
</file>

<file path=ppt/tags/tag12.xml><?xml version="1.0" encoding="utf-8"?>
<p:tagLst xmlns:p="http://schemas.openxmlformats.org/presentationml/2006/main">
  <p:tag name="KSO_WM_DIAGRAM_VIRTUALLY_FRAME" val="{&quot;height&quot;:188.7,&quot;left&quot;:4.65,&quot;top&quot;:216.5,&quot;width&quot;:156.65}"/>
</p:tagLst>
</file>

<file path=ppt/tags/tag13.xml><?xml version="1.0" encoding="utf-8"?>
<p:tagLst xmlns:p="http://schemas.openxmlformats.org/presentationml/2006/main">
  <p:tag name="KSO_WM_DIAGRAM_VIRTUALLY_FRAME" val="{&quot;height&quot;:188.7,&quot;left&quot;:4.65,&quot;top&quot;:216.5,&quot;width&quot;:156.65}"/>
</p:tagLst>
</file>

<file path=ppt/tags/tag14.xml><?xml version="1.0" encoding="utf-8"?>
<p:tagLst xmlns:p="http://schemas.openxmlformats.org/presentationml/2006/main">
  <p:tag name="KSO_WM_DIAGRAM_VIRTUALLY_FRAME" val="{&quot;height&quot;:188.7,&quot;left&quot;:4.65,&quot;top&quot;:216.5,&quot;width&quot;:156.65}"/>
</p:tagLst>
</file>

<file path=ppt/tags/tag15.xml><?xml version="1.0" encoding="utf-8"?>
<p:tagLst xmlns:p="http://schemas.openxmlformats.org/presentationml/2006/main">
  <p:tag name="KSO_WM_DIAGRAM_VIRTUALLY_FRAME" val="{&quot;height&quot;:188.7,&quot;left&quot;:4.65,&quot;top&quot;:216.5,&quot;width&quot;:156.6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1057</Words>
  <Application>WPS 演示</Application>
  <PresentationFormat>宽屏</PresentationFormat>
  <Paragraphs>220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29" baseType="lpstr">
      <vt:lpstr>Arial</vt:lpstr>
      <vt:lpstr>宋体</vt:lpstr>
      <vt:lpstr>Wingdings</vt:lpstr>
      <vt:lpstr>方正颜真卿楷书 简繁</vt:lpstr>
      <vt:lpstr>方正甲骨文</vt:lpstr>
      <vt:lpstr>方正柳公权楷书 简繁</vt:lpstr>
      <vt:lpstr>方正李陽冰篆書 繁U</vt:lpstr>
      <vt:lpstr>微软雅黑</vt:lpstr>
      <vt:lpstr>等线</vt:lpstr>
      <vt:lpstr>HarmonyOS Sans SC Light</vt:lpstr>
      <vt:lpstr>阿里巴巴普惠体 2.0 55 Regular</vt:lpstr>
      <vt:lpstr>阿里妈妈数黑体</vt:lpstr>
      <vt:lpstr>黑体</vt:lpstr>
      <vt:lpstr>Arial Unicode MS</vt:lpstr>
      <vt:lpstr>等线 Light</vt:lpstr>
      <vt:lpstr>Calibri</vt:lpstr>
      <vt:lpstr>HarmonyOS Sans SC Light</vt:lpstr>
      <vt:lpstr>方正李陽冰篆書 繁U</vt:lpstr>
      <vt:lpstr>方正柳公权楷书 简繁</vt:lpstr>
      <vt:lpstr>方正甲骨文</vt:lpstr>
      <vt:lpstr>方正颜真卿楷书 简繁</vt:lpstr>
      <vt:lpstr>阿里妈妈数黑体</vt:lpstr>
      <vt:lpstr>Segoe Print</vt:lpstr>
      <vt:lpstr>华文仿宋</vt:lpstr>
      <vt:lpstr>Calibri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陈馨怡</cp:lastModifiedBy>
  <cp:revision>159</cp:revision>
  <dcterms:created xsi:type="dcterms:W3CDTF">2019-06-19T02:08:00Z</dcterms:created>
  <dcterms:modified xsi:type="dcterms:W3CDTF">2026-06-04T14:19:40Z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F538041155324ABCA8450B3B53849240_11</vt:lpwstr>
  </property>
</Properties>
</file>